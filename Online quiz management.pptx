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69" autoAdjust="0"/>
    <p:restoredTop sz="94660"/>
  </p:normalViewPr>
  <p:slideViewPr>
    <p:cSldViewPr snapToGrid="0">
      <p:cViewPr varScale="1">
        <p:scale>
          <a:sx n="79" d="100"/>
          <a:sy n="79" d="100"/>
        </p:scale>
        <p:origin x="98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F4CDF58A-0757-41CC-B49D-421D07606707}" type="datetimeFigureOut">
              <a:rPr lang="en-IN" smtClean="0"/>
              <a:t>04-05-2026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28605A4-39B5-4927-86C4-3A8D660656D0}"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6666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CDF58A-0757-41CC-B49D-421D07606707}" type="datetimeFigureOut">
              <a:rPr lang="en-IN" smtClean="0"/>
              <a:t>04-05-2026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28605A4-39B5-4927-86C4-3A8D660656D0}" type="slidenum">
              <a:rPr lang="en-IN" smtClean="0"/>
              <a:t>‹#›</a:t>
            </a:fld>
            <a:endParaRPr lang="en-IN"/>
          </a:p>
        </p:txBody>
      </p:sp>
    </p:spTree>
    <p:extLst>
      <p:ext uri="{BB962C8B-B14F-4D97-AF65-F5344CB8AC3E}">
        <p14:creationId xmlns:p14="http://schemas.microsoft.com/office/powerpoint/2010/main" val="2807885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CDF58A-0757-41CC-B49D-421D07606707}" type="datetimeFigureOut">
              <a:rPr lang="en-IN" smtClean="0"/>
              <a:t>04-05-2026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28605A4-39B5-4927-86C4-3A8D660656D0}"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44074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4CDF58A-0757-41CC-B49D-421D07606707}" type="datetimeFigureOut">
              <a:rPr lang="en-IN" smtClean="0"/>
              <a:t>04-05-2026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28605A4-39B5-4927-86C4-3A8D660656D0}" type="slidenum">
              <a:rPr lang="en-IN" smtClean="0"/>
              <a:t>‹#›</a:t>
            </a:fld>
            <a:endParaRPr lang="en-IN"/>
          </a:p>
        </p:txBody>
      </p:sp>
    </p:spTree>
    <p:extLst>
      <p:ext uri="{BB962C8B-B14F-4D97-AF65-F5344CB8AC3E}">
        <p14:creationId xmlns:p14="http://schemas.microsoft.com/office/powerpoint/2010/main" val="3873059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4CDF58A-0757-41CC-B49D-421D07606707}" type="datetimeFigureOut">
              <a:rPr lang="en-IN" smtClean="0"/>
              <a:t>04-05-2026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28605A4-39B5-4927-86C4-3A8D660656D0}" type="slidenum">
              <a:rPr lang="en-IN" smtClean="0"/>
              <a:t>‹#›</a:t>
            </a:fld>
            <a:endParaRPr lang="en-IN"/>
          </a:p>
        </p:txBody>
      </p:sp>
    </p:spTree>
    <p:extLst>
      <p:ext uri="{BB962C8B-B14F-4D97-AF65-F5344CB8AC3E}">
        <p14:creationId xmlns:p14="http://schemas.microsoft.com/office/powerpoint/2010/main" val="22469688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4CDF58A-0757-41CC-B49D-421D07606707}" type="datetimeFigureOut">
              <a:rPr lang="en-IN" smtClean="0"/>
              <a:t>04-05-2026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28605A4-39B5-4927-86C4-3A8D660656D0}" type="slidenum">
              <a:rPr lang="en-IN" smtClean="0"/>
              <a:t>‹#›</a:t>
            </a:fld>
            <a:endParaRPr lang="en-IN"/>
          </a:p>
        </p:txBody>
      </p:sp>
    </p:spTree>
    <p:extLst>
      <p:ext uri="{BB962C8B-B14F-4D97-AF65-F5344CB8AC3E}">
        <p14:creationId xmlns:p14="http://schemas.microsoft.com/office/powerpoint/2010/main" val="14210110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CDF58A-0757-41CC-B49D-421D07606707}" type="datetimeFigureOut">
              <a:rPr lang="en-IN" smtClean="0"/>
              <a:t>04-05-2026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28605A4-39B5-4927-86C4-3A8D660656D0}" type="slidenum">
              <a:rPr lang="en-IN" smtClean="0"/>
              <a:t>‹#›</a:t>
            </a:fld>
            <a:endParaRPr lang="en-IN"/>
          </a:p>
        </p:txBody>
      </p:sp>
    </p:spTree>
    <p:extLst>
      <p:ext uri="{BB962C8B-B14F-4D97-AF65-F5344CB8AC3E}">
        <p14:creationId xmlns:p14="http://schemas.microsoft.com/office/powerpoint/2010/main" val="3807765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CDF58A-0757-41CC-B49D-421D07606707}" type="datetimeFigureOut">
              <a:rPr lang="en-IN" smtClean="0"/>
              <a:t>04-05-2026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28605A4-39B5-4927-86C4-3A8D660656D0}" type="slidenum">
              <a:rPr lang="en-IN" smtClean="0"/>
              <a:t>‹#›</a:t>
            </a:fld>
            <a:endParaRPr lang="en-IN"/>
          </a:p>
        </p:txBody>
      </p:sp>
    </p:spTree>
    <p:extLst>
      <p:ext uri="{BB962C8B-B14F-4D97-AF65-F5344CB8AC3E}">
        <p14:creationId xmlns:p14="http://schemas.microsoft.com/office/powerpoint/2010/main" val="1421070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4CDF58A-0757-41CC-B49D-421D07606707}" type="datetimeFigureOut">
              <a:rPr lang="en-IN" smtClean="0"/>
              <a:t>04-05-2026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28605A4-39B5-4927-86C4-3A8D660656D0}"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7892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CDF58A-0757-41CC-B49D-421D07606707}" type="datetimeFigureOut">
              <a:rPr lang="en-IN" smtClean="0"/>
              <a:t>04-05-2026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28605A4-39B5-4927-86C4-3A8D660656D0}" type="slidenum">
              <a:rPr lang="en-IN" smtClean="0"/>
              <a:t>‹#›</a:t>
            </a:fld>
            <a:endParaRPr lang="en-IN"/>
          </a:p>
        </p:txBody>
      </p:sp>
    </p:spTree>
    <p:extLst>
      <p:ext uri="{BB962C8B-B14F-4D97-AF65-F5344CB8AC3E}">
        <p14:creationId xmlns:p14="http://schemas.microsoft.com/office/powerpoint/2010/main" val="10914626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CDF58A-0757-41CC-B49D-421D07606707}" type="datetimeFigureOut">
              <a:rPr lang="en-IN" smtClean="0"/>
              <a:t>04-05-2026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28605A4-39B5-4927-86C4-3A8D660656D0}" type="slidenum">
              <a:rPr lang="en-IN" smtClean="0"/>
              <a:t>‹#›</a:t>
            </a:fld>
            <a:endParaRPr lang="en-IN"/>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0305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F4CDF58A-0757-41CC-B49D-421D07606707}" type="datetimeFigureOut">
              <a:rPr lang="en-IN" smtClean="0"/>
              <a:t>04-05-2026</a:t>
            </a:fld>
            <a:endParaRPr lang="en-IN"/>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IN"/>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328605A4-39B5-4927-86C4-3A8D660656D0}" type="slidenum">
              <a:rPr lang="en-IN" smtClean="0"/>
              <a:t>‹#›</a:t>
            </a:fld>
            <a:endParaRPr lang="en-IN"/>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95859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jp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jp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jp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jp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jp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jp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jp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jp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jp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jp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9CFDC3F-BFD3-4C26-1645-69EDC7812A29}"/>
              </a:ext>
            </a:extLst>
          </p:cNvPr>
          <p:cNvPicPr>
            <a:picLocks noChangeAspect="1"/>
          </p:cNvPicPr>
          <p:nvPr/>
        </p:nvPicPr>
        <p:blipFill>
          <a:blip r:embed="rId2">
            <a:alphaModFix amt="50000"/>
            <a:extLst>
              <a:ext uri="{28A0092B-C50C-407E-A947-70E740481C1C}">
                <a14:useLocalDpi xmlns:a14="http://schemas.microsoft.com/office/drawing/2010/main" val="0"/>
              </a:ext>
            </a:extLst>
          </a:blip>
          <a:srcRect t="2913" b="18132"/>
          <a:stretch>
            <a:fillRect/>
          </a:stretch>
        </p:blipFill>
        <p:spPr>
          <a:xfrm>
            <a:off x="157683" y="140677"/>
            <a:ext cx="11910774" cy="6561574"/>
          </a:xfrm>
          <a:prstGeom prst="rect">
            <a:avLst/>
          </a:prstGeom>
          <a:solidFill>
            <a:srgbClr val="FFFFFF"/>
          </a:solidFill>
          <a:ln>
            <a:solidFill>
              <a:schemeClr val="bg2"/>
            </a:solidFill>
          </a:ln>
          <a:effectLst>
            <a:outerShdw blurRad="63500" sx="102000" sy="102000" algn="ctr" rotWithShape="0">
              <a:prstClr val="black">
                <a:alpha val="40000"/>
              </a:prstClr>
            </a:outerShdw>
            <a:reflection blurRad="6350" stA="50000" endA="300" endPos="55000" dir="5400000" sy="-100000" algn="bl" rotWithShape="0"/>
          </a:effectLst>
          <a:scene3d>
            <a:camera prst="orthographicFront"/>
            <a:lightRig rig="threePt" dir="t">
              <a:rot lat="0" lon="0" rev="2700000"/>
            </a:lightRig>
          </a:scene3d>
          <a:sp3d>
            <a:bevelT h="38100"/>
            <a:contourClr>
              <a:srgbClr val="C0C0C0"/>
            </a:contourClr>
          </a:sp3d>
        </p:spPr>
      </p:pic>
      <p:sp>
        <p:nvSpPr>
          <p:cNvPr id="6" name="TextBox 5">
            <a:extLst>
              <a:ext uri="{FF2B5EF4-FFF2-40B4-BE49-F238E27FC236}">
                <a16:creationId xmlns:a16="http://schemas.microsoft.com/office/drawing/2014/main" id="{3BC034B3-626E-5202-7E36-3C9D95DA20F1}"/>
              </a:ext>
            </a:extLst>
          </p:cNvPr>
          <p:cNvSpPr txBox="1"/>
          <p:nvPr/>
        </p:nvSpPr>
        <p:spPr>
          <a:xfrm>
            <a:off x="2081719" y="1040860"/>
            <a:ext cx="7694579" cy="1754326"/>
          </a:xfrm>
          <a:prstGeom prst="rect">
            <a:avLst/>
          </a:prstGeom>
          <a:noFill/>
        </p:spPr>
        <p:txBody>
          <a:bodyPr wrap="square" rtlCol="0">
            <a:spAutoFit/>
          </a:bodyPr>
          <a:lstStyle/>
          <a:p>
            <a:pPr algn="ctr"/>
            <a:r>
              <a:rPr lang="en-US" sz="5400" b="1" dirty="0">
                <a:solidFill>
                  <a:schemeClr val="accent4">
                    <a:lumMod val="50000"/>
                  </a:schemeClr>
                </a:solidFill>
              </a:rPr>
              <a:t>Online Quiz Management System </a:t>
            </a:r>
            <a:endParaRPr lang="en-IN" sz="5400" b="1" dirty="0">
              <a:solidFill>
                <a:schemeClr val="accent4">
                  <a:lumMod val="50000"/>
                </a:schemeClr>
              </a:solidFill>
            </a:endParaRPr>
          </a:p>
        </p:txBody>
      </p:sp>
      <p:sp>
        <p:nvSpPr>
          <p:cNvPr id="7" name="TextBox 6">
            <a:extLst>
              <a:ext uri="{FF2B5EF4-FFF2-40B4-BE49-F238E27FC236}">
                <a16:creationId xmlns:a16="http://schemas.microsoft.com/office/drawing/2014/main" id="{FCEB690B-9358-C253-C23D-FADCD75DD10F}"/>
              </a:ext>
            </a:extLst>
          </p:cNvPr>
          <p:cNvSpPr txBox="1"/>
          <p:nvPr/>
        </p:nvSpPr>
        <p:spPr>
          <a:xfrm>
            <a:off x="817123" y="2864372"/>
            <a:ext cx="10282137" cy="830997"/>
          </a:xfrm>
          <a:prstGeom prst="rect">
            <a:avLst/>
          </a:prstGeom>
          <a:noFill/>
        </p:spPr>
        <p:txBody>
          <a:bodyPr wrap="square" rtlCol="0">
            <a:spAutoFit/>
          </a:bodyPr>
          <a:lstStyle/>
          <a:p>
            <a:pPr algn="ctr"/>
            <a:r>
              <a:rPr lang="en-US" sz="4800" b="1" dirty="0">
                <a:solidFill>
                  <a:schemeClr val="accent4">
                    <a:lumMod val="50000"/>
                  </a:schemeClr>
                </a:solidFill>
              </a:rPr>
              <a:t>Case Study Presentation Using SQL</a:t>
            </a:r>
            <a:r>
              <a:rPr lang="en-US" dirty="0"/>
              <a:t> </a:t>
            </a:r>
            <a:endParaRPr lang="en-IN" dirty="0"/>
          </a:p>
        </p:txBody>
      </p:sp>
      <p:sp>
        <p:nvSpPr>
          <p:cNvPr id="11" name="TextBox 10">
            <a:extLst>
              <a:ext uri="{FF2B5EF4-FFF2-40B4-BE49-F238E27FC236}">
                <a16:creationId xmlns:a16="http://schemas.microsoft.com/office/drawing/2014/main" id="{C7C9CCC9-AB21-5184-6025-59EB403AC364}"/>
              </a:ext>
            </a:extLst>
          </p:cNvPr>
          <p:cNvSpPr txBox="1"/>
          <p:nvPr/>
        </p:nvSpPr>
        <p:spPr>
          <a:xfrm>
            <a:off x="2129593" y="4618560"/>
            <a:ext cx="7966953" cy="1077218"/>
          </a:xfrm>
          <a:prstGeom prst="rect">
            <a:avLst/>
          </a:prstGeom>
          <a:noFill/>
        </p:spPr>
        <p:txBody>
          <a:bodyPr wrap="square" rtlCol="0">
            <a:spAutoFit/>
          </a:bodyPr>
          <a:lstStyle/>
          <a:p>
            <a:pPr algn="ctr"/>
            <a:r>
              <a:rPr lang="en-US" sz="3200" b="1" dirty="0">
                <a:solidFill>
                  <a:schemeClr val="accent4">
                    <a:lumMod val="50000"/>
                  </a:schemeClr>
                </a:solidFill>
              </a:rPr>
              <a:t>By</a:t>
            </a:r>
          </a:p>
          <a:p>
            <a:pPr algn="ctr"/>
            <a:r>
              <a:rPr lang="en-US" sz="3200" b="1" dirty="0">
                <a:solidFill>
                  <a:schemeClr val="accent4">
                    <a:lumMod val="50000"/>
                  </a:schemeClr>
                </a:solidFill>
              </a:rPr>
              <a:t>Prachi Balasaheb More</a:t>
            </a:r>
            <a:endParaRPr lang="en-IN" sz="3200" b="1" dirty="0">
              <a:solidFill>
                <a:schemeClr val="accent4">
                  <a:lumMod val="50000"/>
                </a:schemeClr>
              </a:solidFill>
            </a:endParaRPr>
          </a:p>
        </p:txBody>
      </p:sp>
    </p:spTree>
    <p:extLst>
      <p:ext uri="{BB962C8B-B14F-4D97-AF65-F5344CB8AC3E}">
        <p14:creationId xmlns:p14="http://schemas.microsoft.com/office/powerpoint/2010/main" val="19468338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F2FC8EB-A700-5F17-1652-CCA53A8A2C9B}"/>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56" b="15475"/>
          <a:stretch>
            <a:fillRect/>
          </a:stretch>
        </p:blipFill>
        <p:spPr>
          <a:xfrm>
            <a:off x="20" y="10"/>
            <a:ext cx="12191980" cy="6857990"/>
          </a:xfrm>
          <a:prstGeom prst="rect">
            <a:avLst/>
          </a:prstGeom>
        </p:spPr>
      </p:pic>
      <p:sp>
        <p:nvSpPr>
          <p:cNvPr id="4" name="TextBox 3">
            <a:extLst>
              <a:ext uri="{FF2B5EF4-FFF2-40B4-BE49-F238E27FC236}">
                <a16:creationId xmlns:a16="http://schemas.microsoft.com/office/drawing/2014/main" id="{AD01D850-832A-F930-37E5-362F56096C0C}"/>
              </a:ext>
            </a:extLst>
          </p:cNvPr>
          <p:cNvSpPr txBox="1"/>
          <p:nvPr/>
        </p:nvSpPr>
        <p:spPr>
          <a:xfrm>
            <a:off x="1750978" y="290790"/>
            <a:ext cx="7568120" cy="830997"/>
          </a:xfrm>
          <a:prstGeom prst="rect">
            <a:avLst/>
          </a:prstGeom>
          <a:noFill/>
        </p:spPr>
        <p:txBody>
          <a:bodyPr wrap="square" rtlCol="0">
            <a:spAutoFit/>
          </a:bodyPr>
          <a:lstStyle/>
          <a:p>
            <a:pPr algn="ctr"/>
            <a:r>
              <a:rPr lang="en-US" sz="4800" b="1" dirty="0">
                <a:solidFill>
                  <a:schemeClr val="accent4">
                    <a:lumMod val="50000"/>
                  </a:schemeClr>
                </a:solidFill>
              </a:rPr>
              <a:t>Introduction</a:t>
            </a:r>
            <a:endParaRPr lang="en-IN" sz="4800" b="1" dirty="0">
              <a:solidFill>
                <a:schemeClr val="accent4">
                  <a:lumMod val="50000"/>
                </a:schemeClr>
              </a:solidFill>
            </a:endParaRPr>
          </a:p>
        </p:txBody>
      </p:sp>
      <p:sp>
        <p:nvSpPr>
          <p:cNvPr id="5" name="TextBox 4">
            <a:extLst>
              <a:ext uri="{FF2B5EF4-FFF2-40B4-BE49-F238E27FC236}">
                <a16:creationId xmlns:a16="http://schemas.microsoft.com/office/drawing/2014/main" id="{DCB1FD65-4201-E379-0624-F60688F2BD98}"/>
              </a:ext>
            </a:extLst>
          </p:cNvPr>
          <p:cNvSpPr txBox="1"/>
          <p:nvPr/>
        </p:nvSpPr>
        <p:spPr>
          <a:xfrm>
            <a:off x="739302" y="1566153"/>
            <a:ext cx="10739336" cy="4431983"/>
          </a:xfrm>
          <a:prstGeom prst="rect">
            <a:avLst/>
          </a:prstGeom>
          <a:noFill/>
        </p:spPr>
        <p:txBody>
          <a:bodyPr wrap="square" rtlCol="0">
            <a:spAutoFit/>
          </a:bodyPr>
          <a:lstStyle/>
          <a:p>
            <a:pPr algn="just"/>
            <a:r>
              <a:rPr lang="en-US" sz="2400" b="1" dirty="0">
                <a:solidFill>
                  <a:schemeClr val="accent4">
                    <a:lumMod val="50000"/>
                  </a:schemeClr>
                </a:solidFill>
              </a:rPr>
              <a:t>An Online Quiz Management System is designed to demonstrate how quiz-related data can be structured, stored, and retrieved using relational database concepts. In this project, multiple tables such as Users, Quizzes, Questions, Options,   </a:t>
            </a:r>
            <a:r>
              <a:rPr lang="en-US" sz="2400" b="1" dirty="0" err="1">
                <a:solidFill>
                  <a:schemeClr val="accent4">
                    <a:lumMod val="50000"/>
                  </a:schemeClr>
                </a:solidFill>
              </a:rPr>
              <a:t>UserAnswers</a:t>
            </a:r>
            <a:r>
              <a:rPr lang="en-US" sz="2400" b="1" dirty="0">
                <a:solidFill>
                  <a:schemeClr val="accent4">
                    <a:lumMod val="50000"/>
                  </a:schemeClr>
                </a:solidFill>
              </a:rPr>
              <a:t> and Scores are created to represent different entities of a quiz system. Relationships between these tables are established using primary and foreign keys to maintain data integrity. Various SQL queries are performed to retrieve meaningful information, such as fetching quiz details, analyzing user performance, calculating scores, and generating reports using operations like JOIN, GROUP BY, HAVING, and subqueries. The project focuses on efficient data organization and query execution rather than building a user interface, highlighting the practical use of SQL in managing and analyzing structured data.</a:t>
            </a:r>
          </a:p>
          <a:p>
            <a:endParaRPr lang="en-IN" b="1" dirty="0"/>
          </a:p>
        </p:txBody>
      </p:sp>
    </p:spTree>
    <p:extLst>
      <p:ext uri="{BB962C8B-B14F-4D97-AF65-F5344CB8AC3E}">
        <p14:creationId xmlns:p14="http://schemas.microsoft.com/office/powerpoint/2010/main" val="33062892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D669FB7-A06E-A365-E32C-8DBA6651A5F7}"/>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56" b="15475"/>
          <a:stretch>
            <a:fillRect/>
          </a:stretch>
        </p:blipFill>
        <p:spPr>
          <a:xfrm>
            <a:off x="20" y="10"/>
            <a:ext cx="12191980" cy="6857990"/>
          </a:xfrm>
          <a:prstGeom prst="rect">
            <a:avLst/>
          </a:prstGeom>
        </p:spPr>
      </p:pic>
      <p:sp>
        <p:nvSpPr>
          <p:cNvPr id="4" name="TextBox 3">
            <a:extLst>
              <a:ext uri="{FF2B5EF4-FFF2-40B4-BE49-F238E27FC236}">
                <a16:creationId xmlns:a16="http://schemas.microsoft.com/office/drawing/2014/main" id="{DF15D420-64BC-3B11-9DA9-7DC6B8C2F6DA}"/>
              </a:ext>
            </a:extLst>
          </p:cNvPr>
          <p:cNvSpPr txBox="1"/>
          <p:nvPr/>
        </p:nvSpPr>
        <p:spPr>
          <a:xfrm>
            <a:off x="710119" y="398834"/>
            <a:ext cx="10797702" cy="5570756"/>
          </a:xfrm>
          <a:prstGeom prst="rect">
            <a:avLst/>
          </a:prstGeom>
          <a:noFill/>
        </p:spPr>
        <p:txBody>
          <a:bodyPr wrap="square" rtlCol="0">
            <a:spAutoFit/>
          </a:bodyPr>
          <a:lstStyle/>
          <a:p>
            <a:r>
              <a:rPr lang="en-IN" sz="2800" b="1" dirty="0">
                <a:solidFill>
                  <a:schemeClr val="accent4">
                    <a:lumMod val="50000"/>
                  </a:schemeClr>
                </a:solidFill>
              </a:rPr>
              <a:t>Tools Used :</a:t>
            </a:r>
          </a:p>
          <a:p>
            <a:r>
              <a:rPr lang="en-IN" sz="2400" b="1" dirty="0">
                <a:solidFill>
                  <a:schemeClr val="accent4">
                    <a:lumMod val="50000"/>
                  </a:schemeClr>
                </a:solidFill>
              </a:rPr>
              <a:t>1)SQL </a:t>
            </a:r>
            <a:r>
              <a:rPr lang="en-IN" sz="2400" dirty="0">
                <a:solidFill>
                  <a:schemeClr val="accent4">
                    <a:lumMod val="50000"/>
                  </a:schemeClr>
                </a:solidFill>
              </a:rPr>
              <a:t>→ For creating tables and writing queries</a:t>
            </a:r>
          </a:p>
          <a:p>
            <a:r>
              <a:rPr lang="en-IN" sz="2400" b="1" dirty="0">
                <a:solidFill>
                  <a:schemeClr val="accent4">
                    <a:lumMod val="50000"/>
                  </a:schemeClr>
                </a:solidFill>
              </a:rPr>
              <a:t>2)MySQL</a:t>
            </a:r>
            <a:r>
              <a:rPr lang="en-IN" sz="2400" dirty="0">
                <a:solidFill>
                  <a:schemeClr val="accent4">
                    <a:lumMod val="50000"/>
                  </a:schemeClr>
                </a:solidFill>
              </a:rPr>
              <a:t> → Database system used to store and manage data</a:t>
            </a:r>
          </a:p>
          <a:p>
            <a:r>
              <a:rPr lang="en-IN" sz="2400" b="1" dirty="0">
                <a:solidFill>
                  <a:schemeClr val="accent4">
                    <a:lumMod val="50000"/>
                  </a:schemeClr>
                </a:solidFill>
              </a:rPr>
              <a:t>3)MySQL Workbench</a:t>
            </a:r>
            <a:r>
              <a:rPr lang="en-IN" sz="2400" dirty="0">
                <a:solidFill>
                  <a:schemeClr val="accent4">
                    <a:lumMod val="50000"/>
                  </a:schemeClr>
                </a:solidFill>
              </a:rPr>
              <a:t> → For designing schema and executing queries</a:t>
            </a:r>
          </a:p>
          <a:p>
            <a:r>
              <a:rPr lang="en-IN" sz="2400" b="1" dirty="0">
                <a:solidFill>
                  <a:schemeClr val="accent4">
                    <a:lumMod val="50000"/>
                  </a:schemeClr>
                </a:solidFill>
              </a:rPr>
              <a:t>4)DBMS</a:t>
            </a:r>
            <a:r>
              <a:rPr lang="en-IN" sz="2400" dirty="0">
                <a:solidFill>
                  <a:schemeClr val="accent4">
                    <a:lumMod val="50000"/>
                  </a:schemeClr>
                </a:solidFill>
              </a:rPr>
              <a:t> → Concepts like normalization, keys, relationships</a:t>
            </a:r>
          </a:p>
          <a:p>
            <a:br>
              <a:rPr lang="en-IN" dirty="0"/>
            </a:br>
            <a:endParaRPr lang="en-IN" dirty="0"/>
          </a:p>
          <a:p>
            <a:r>
              <a:rPr lang="en-IN" sz="2800" b="1" dirty="0">
                <a:solidFill>
                  <a:schemeClr val="accent4">
                    <a:lumMod val="50000"/>
                  </a:schemeClr>
                </a:solidFill>
              </a:rPr>
              <a:t>Focus Areas : </a:t>
            </a:r>
          </a:p>
          <a:p>
            <a:r>
              <a:rPr lang="en-US" sz="2400" dirty="0">
                <a:solidFill>
                  <a:schemeClr val="accent4">
                    <a:lumMod val="50000"/>
                  </a:schemeClr>
                </a:solidFill>
              </a:rPr>
              <a:t>The main  focus of this project was on designing a proper database structure and writing effective SQL queries. I worked on creating different tables such as Users, Quizzes, Questions, Options, </a:t>
            </a:r>
            <a:r>
              <a:rPr lang="en-US" sz="2400" dirty="0" err="1">
                <a:solidFill>
                  <a:schemeClr val="accent4">
                    <a:lumMod val="50000"/>
                  </a:schemeClr>
                </a:solidFill>
              </a:rPr>
              <a:t>UserAnswers</a:t>
            </a:r>
            <a:r>
              <a:rPr lang="en-US" sz="2400" dirty="0">
                <a:solidFill>
                  <a:schemeClr val="accent4">
                    <a:lumMod val="50000"/>
                  </a:schemeClr>
                </a:solidFill>
              </a:rPr>
              <a:t> and Scores, and linking them correctly using keys. Another important part was writing queries to retrieve useful information like calculating scores, finding average performance, and joining multiple tables. Overall, the project helped me understand how data is organized and how SQL can be used to analyze it efficiently.</a:t>
            </a:r>
            <a:endParaRPr lang="en-IN" sz="2400" dirty="0">
              <a:solidFill>
                <a:schemeClr val="accent4">
                  <a:lumMod val="50000"/>
                </a:schemeClr>
              </a:solidFill>
            </a:endParaRPr>
          </a:p>
        </p:txBody>
      </p:sp>
    </p:spTree>
    <p:extLst>
      <p:ext uri="{BB962C8B-B14F-4D97-AF65-F5344CB8AC3E}">
        <p14:creationId xmlns:p14="http://schemas.microsoft.com/office/powerpoint/2010/main" val="6793074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47378B-6D0E-375B-812C-06EDBA5351CE}"/>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56" b="15475"/>
          <a:stretch>
            <a:fillRect/>
          </a:stretch>
        </p:blipFill>
        <p:spPr>
          <a:xfrm>
            <a:off x="20" y="10"/>
            <a:ext cx="12191980" cy="6857990"/>
          </a:xfrm>
          <a:prstGeom prst="rect">
            <a:avLst/>
          </a:prstGeom>
        </p:spPr>
      </p:pic>
      <p:pic>
        <p:nvPicPr>
          <p:cNvPr id="5" name="Picture 4">
            <a:extLst>
              <a:ext uri="{FF2B5EF4-FFF2-40B4-BE49-F238E27FC236}">
                <a16:creationId xmlns:a16="http://schemas.microsoft.com/office/drawing/2014/main" id="{D75D2EA0-1107-2B7B-0339-37A301C4ACE5}"/>
              </a:ext>
            </a:extLst>
          </p:cNvPr>
          <p:cNvPicPr>
            <a:picLocks noChangeAspect="1"/>
          </p:cNvPicPr>
          <p:nvPr/>
        </p:nvPicPr>
        <p:blipFill>
          <a:blip r:embed="rId3"/>
          <a:stretch>
            <a:fillRect/>
          </a:stretch>
        </p:blipFill>
        <p:spPr>
          <a:xfrm>
            <a:off x="984738" y="457201"/>
            <a:ext cx="10259367" cy="5873262"/>
          </a:xfrm>
          <a:prstGeom prst="rect">
            <a:avLst/>
          </a:prstGeom>
        </p:spPr>
      </p:pic>
    </p:spTree>
    <p:extLst>
      <p:ext uri="{BB962C8B-B14F-4D97-AF65-F5344CB8AC3E}">
        <p14:creationId xmlns:p14="http://schemas.microsoft.com/office/powerpoint/2010/main" val="953366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E350A3-1AD0-E31D-3A70-F072585CB0BD}"/>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56" b="15475"/>
          <a:stretch>
            <a:fillRect/>
          </a:stretch>
        </p:blipFill>
        <p:spPr>
          <a:xfrm>
            <a:off x="20" y="10"/>
            <a:ext cx="12191980" cy="6857990"/>
          </a:xfrm>
          <a:prstGeom prst="rect">
            <a:avLst/>
          </a:prstGeom>
        </p:spPr>
      </p:pic>
      <p:sp>
        <p:nvSpPr>
          <p:cNvPr id="4" name="TextBox 3">
            <a:extLst>
              <a:ext uri="{FF2B5EF4-FFF2-40B4-BE49-F238E27FC236}">
                <a16:creationId xmlns:a16="http://schemas.microsoft.com/office/drawing/2014/main" id="{CBC9F1AF-A302-3EED-8FF2-06411D85F357}"/>
              </a:ext>
            </a:extLst>
          </p:cNvPr>
          <p:cNvSpPr txBox="1"/>
          <p:nvPr/>
        </p:nvSpPr>
        <p:spPr>
          <a:xfrm>
            <a:off x="252919" y="175098"/>
            <a:ext cx="11546732" cy="7078861"/>
          </a:xfrm>
          <a:prstGeom prst="rect">
            <a:avLst/>
          </a:prstGeom>
          <a:noFill/>
        </p:spPr>
        <p:txBody>
          <a:bodyPr wrap="square" rtlCol="0">
            <a:spAutoFit/>
          </a:bodyPr>
          <a:lstStyle/>
          <a:p>
            <a:pPr algn="ctr"/>
            <a:r>
              <a:rPr lang="en-US" sz="2800" b="1" dirty="0">
                <a:solidFill>
                  <a:schemeClr val="accent4">
                    <a:lumMod val="50000"/>
                  </a:schemeClr>
                </a:solidFill>
              </a:rPr>
              <a:t>Basic SQL Analysis</a:t>
            </a:r>
          </a:p>
          <a:p>
            <a:pPr algn="just"/>
            <a:r>
              <a:rPr lang="en-US" sz="2000" dirty="0">
                <a:solidFill>
                  <a:schemeClr val="accent4">
                    <a:lumMod val="50000"/>
                  </a:schemeClr>
                </a:solidFill>
              </a:rPr>
              <a:t>I worked with simple SQL queries to retrieve and manage data from the tables. This included using commands like SELECT, INSERT, UPDATE, and DELETE. I also used conditions with the WHERE clause to filter specific records, such as finding quizzes created after a certain date or questions of a particular type. These queries helped in understanding how to access and manipulate data in a structured way.</a:t>
            </a:r>
          </a:p>
          <a:p>
            <a:pPr algn="just"/>
            <a:br>
              <a:rPr lang="en-US" dirty="0"/>
            </a:br>
            <a:endParaRPr lang="en-US" dirty="0"/>
          </a:p>
          <a:p>
            <a:pPr algn="ctr"/>
            <a:r>
              <a:rPr lang="en-US" sz="2800" b="1" dirty="0">
                <a:solidFill>
                  <a:schemeClr val="accent4">
                    <a:lumMod val="50000"/>
                  </a:schemeClr>
                </a:solidFill>
              </a:rPr>
              <a:t>Intermediate SQL Analysis</a:t>
            </a:r>
          </a:p>
          <a:p>
            <a:pPr algn="just"/>
            <a:r>
              <a:rPr lang="en-US" sz="2000" dirty="0">
                <a:solidFill>
                  <a:schemeClr val="accent4">
                    <a:lumMod val="50000"/>
                  </a:schemeClr>
                </a:solidFill>
              </a:rPr>
              <a:t>I used more advanced queries to combine and organize data from multiple tables. This included using JOIN operations (INNER JOIN, LEFT JOIN) to connect related tables like Users, Quizzes, and Scores. I also used GROUP BY and HAVING clauses to perform aggregations, such as counting the number of questions per quiz or finding users who attempted multiple quizzes. These queries helped in analyzing relationships and summarizing data.</a:t>
            </a:r>
          </a:p>
          <a:p>
            <a:pPr algn="just"/>
            <a:br>
              <a:rPr lang="en-US" sz="2000" dirty="0">
                <a:solidFill>
                  <a:schemeClr val="accent4">
                    <a:lumMod val="50000"/>
                  </a:schemeClr>
                </a:solidFill>
              </a:rPr>
            </a:br>
            <a:endParaRPr lang="en-US" sz="2000" dirty="0">
              <a:solidFill>
                <a:schemeClr val="accent4">
                  <a:lumMod val="50000"/>
                </a:schemeClr>
              </a:solidFill>
            </a:endParaRPr>
          </a:p>
          <a:p>
            <a:pPr algn="ctr"/>
            <a:r>
              <a:rPr lang="en-US" sz="2800" b="1" dirty="0">
                <a:solidFill>
                  <a:schemeClr val="accent4">
                    <a:lumMod val="50000"/>
                  </a:schemeClr>
                </a:solidFill>
              </a:rPr>
              <a:t>Advanced SQL Analysis</a:t>
            </a:r>
          </a:p>
          <a:p>
            <a:pPr algn="just"/>
            <a:r>
              <a:rPr lang="en-US" sz="2000" dirty="0">
                <a:solidFill>
                  <a:schemeClr val="accent4">
                    <a:lumMod val="50000"/>
                  </a:schemeClr>
                </a:solidFill>
              </a:rPr>
              <a:t>I worked with complex queries involving subqueries and nested queries. I also practiced combining multiple SQL concepts like JOINs with subqueries to retrieve more detailed insights. This level helped me understand how to handle complex data analysis using SQL efficiently.</a:t>
            </a:r>
          </a:p>
          <a:p>
            <a:br>
              <a:rPr lang="en-US" dirty="0"/>
            </a:br>
            <a:endParaRPr lang="en-US" dirty="0"/>
          </a:p>
          <a:p>
            <a:endParaRPr lang="en-IN" dirty="0"/>
          </a:p>
        </p:txBody>
      </p:sp>
    </p:spTree>
    <p:extLst>
      <p:ext uri="{BB962C8B-B14F-4D97-AF65-F5344CB8AC3E}">
        <p14:creationId xmlns:p14="http://schemas.microsoft.com/office/powerpoint/2010/main" val="39338984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0CEDE75-5B7C-6604-0027-B2554C95F98E}"/>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56" b="15475"/>
          <a:stretch>
            <a:fillRect/>
          </a:stretch>
        </p:blipFill>
        <p:spPr>
          <a:xfrm>
            <a:off x="20" y="10"/>
            <a:ext cx="12191980" cy="6857990"/>
          </a:xfrm>
          <a:prstGeom prst="rect">
            <a:avLst/>
          </a:prstGeom>
        </p:spPr>
      </p:pic>
      <p:sp>
        <p:nvSpPr>
          <p:cNvPr id="4" name="TextBox 3">
            <a:extLst>
              <a:ext uri="{FF2B5EF4-FFF2-40B4-BE49-F238E27FC236}">
                <a16:creationId xmlns:a16="http://schemas.microsoft.com/office/drawing/2014/main" id="{17CCF369-CA69-3345-70AA-1C7923A88847}"/>
              </a:ext>
            </a:extLst>
          </p:cNvPr>
          <p:cNvSpPr txBox="1"/>
          <p:nvPr/>
        </p:nvSpPr>
        <p:spPr>
          <a:xfrm>
            <a:off x="914400" y="136187"/>
            <a:ext cx="10194587" cy="707886"/>
          </a:xfrm>
          <a:prstGeom prst="rect">
            <a:avLst/>
          </a:prstGeom>
          <a:noFill/>
        </p:spPr>
        <p:txBody>
          <a:bodyPr wrap="square" rtlCol="0">
            <a:spAutoFit/>
          </a:bodyPr>
          <a:lstStyle/>
          <a:p>
            <a:pPr algn="ctr"/>
            <a:r>
              <a:rPr lang="en-US" sz="4000" b="1" dirty="0">
                <a:solidFill>
                  <a:schemeClr val="accent4">
                    <a:lumMod val="50000"/>
                  </a:schemeClr>
                </a:solidFill>
              </a:rPr>
              <a:t>MySQL Screenshots</a:t>
            </a:r>
            <a:endParaRPr lang="en-IN" sz="4000" b="1" dirty="0">
              <a:solidFill>
                <a:schemeClr val="accent4">
                  <a:lumMod val="50000"/>
                </a:schemeClr>
              </a:solidFill>
            </a:endParaRPr>
          </a:p>
        </p:txBody>
      </p:sp>
      <p:sp>
        <p:nvSpPr>
          <p:cNvPr id="5" name="TextBox 4">
            <a:extLst>
              <a:ext uri="{FF2B5EF4-FFF2-40B4-BE49-F238E27FC236}">
                <a16:creationId xmlns:a16="http://schemas.microsoft.com/office/drawing/2014/main" id="{91F582D3-A497-4C50-0173-2AA1CD3623AD}"/>
              </a:ext>
            </a:extLst>
          </p:cNvPr>
          <p:cNvSpPr txBox="1"/>
          <p:nvPr/>
        </p:nvSpPr>
        <p:spPr>
          <a:xfrm>
            <a:off x="1060315" y="992221"/>
            <a:ext cx="10048672" cy="461665"/>
          </a:xfrm>
          <a:prstGeom prst="rect">
            <a:avLst/>
          </a:prstGeom>
          <a:noFill/>
        </p:spPr>
        <p:txBody>
          <a:bodyPr wrap="square" rtlCol="0">
            <a:spAutoFit/>
          </a:bodyPr>
          <a:lstStyle/>
          <a:p>
            <a:pPr algn="ctr"/>
            <a:r>
              <a:rPr lang="en-US" sz="2400" dirty="0">
                <a:solidFill>
                  <a:schemeClr val="accent4">
                    <a:lumMod val="50000"/>
                  </a:schemeClr>
                </a:solidFill>
              </a:rPr>
              <a:t>Create all the tables with the specified columns and foreign key references.</a:t>
            </a:r>
            <a:endParaRPr lang="en-IN" sz="2400" dirty="0">
              <a:solidFill>
                <a:schemeClr val="accent4">
                  <a:lumMod val="50000"/>
                </a:schemeClr>
              </a:solidFill>
            </a:endParaRPr>
          </a:p>
        </p:txBody>
      </p:sp>
      <p:pic>
        <p:nvPicPr>
          <p:cNvPr id="7" name="Picture 6">
            <a:extLst>
              <a:ext uri="{FF2B5EF4-FFF2-40B4-BE49-F238E27FC236}">
                <a16:creationId xmlns:a16="http://schemas.microsoft.com/office/drawing/2014/main" id="{8A5E6838-FCC7-5332-4C1D-A5D911C62073}"/>
              </a:ext>
            </a:extLst>
          </p:cNvPr>
          <p:cNvPicPr>
            <a:picLocks noChangeAspect="1"/>
          </p:cNvPicPr>
          <p:nvPr/>
        </p:nvPicPr>
        <p:blipFill>
          <a:blip r:embed="rId3"/>
          <a:stretch>
            <a:fillRect/>
          </a:stretch>
        </p:blipFill>
        <p:spPr>
          <a:xfrm>
            <a:off x="408561" y="1721796"/>
            <a:ext cx="11342451" cy="4931923"/>
          </a:xfrm>
          <a:prstGeom prst="rect">
            <a:avLst/>
          </a:prstGeom>
        </p:spPr>
      </p:pic>
    </p:spTree>
    <p:extLst>
      <p:ext uri="{BB962C8B-B14F-4D97-AF65-F5344CB8AC3E}">
        <p14:creationId xmlns:p14="http://schemas.microsoft.com/office/powerpoint/2010/main" val="35462471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99472D2-FE7C-6300-C9DE-F5D5271BAEFC}"/>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56" b="15475"/>
          <a:stretch>
            <a:fillRect/>
          </a:stretch>
        </p:blipFill>
        <p:spPr>
          <a:xfrm>
            <a:off x="20" y="10"/>
            <a:ext cx="12191980" cy="6857990"/>
          </a:xfrm>
          <a:prstGeom prst="rect">
            <a:avLst/>
          </a:prstGeom>
        </p:spPr>
      </p:pic>
      <p:sp>
        <p:nvSpPr>
          <p:cNvPr id="6" name="TextBox 5">
            <a:extLst>
              <a:ext uri="{FF2B5EF4-FFF2-40B4-BE49-F238E27FC236}">
                <a16:creationId xmlns:a16="http://schemas.microsoft.com/office/drawing/2014/main" id="{EF758820-8503-F11E-ECF8-C036D41DDEC6}"/>
              </a:ext>
            </a:extLst>
          </p:cNvPr>
          <p:cNvSpPr txBox="1"/>
          <p:nvPr/>
        </p:nvSpPr>
        <p:spPr>
          <a:xfrm>
            <a:off x="1138136" y="136187"/>
            <a:ext cx="10262681" cy="1107996"/>
          </a:xfrm>
          <a:prstGeom prst="rect">
            <a:avLst/>
          </a:prstGeom>
          <a:noFill/>
        </p:spPr>
        <p:txBody>
          <a:bodyPr wrap="square" rtlCol="0">
            <a:spAutoFit/>
          </a:bodyPr>
          <a:lstStyle/>
          <a:p>
            <a:pPr algn="ctr"/>
            <a:r>
              <a:rPr lang="en-US" sz="2400" dirty="0">
                <a:solidFill>
                  <a:schemeClr val="accent4">
                    <a:lumMod val="50000"/>
                  </a:schemeClr>
                </a:solidFill>
              </a:rPr>
              <a:t>Insert at least 10 records into each of the tables to populate the database with sample data.</a:t>
            </a:r>
          </a:p>
          <a:p>
            <a:endParaRPr lang="en-IN" dirty="0"/>
          </a:p>
        </p:txBody>
      </p:sp>
      <p:pic>
        <p:nvPicPr>
          <p:cNvPr id="8" name="Picture 7">
            <a:extLst>
              <a:ext uri="{FF2B5EF4-FFF2-40B4-BE49-F238E27FC236}">
                <a16:creationId xmlns:a16="http://schemas.microsoft.com/office/drawing/2014/main" id="{7122C8AB-26BB-D10E-2639-6ED9ECE6838B}"/>
              </a:ext>
            </a:extLst>
          </p:cNvPr>
          <p:cNvPicPr>
            <a:picLocks noChangeAspect="1"/>
          </p:cNvPicPr>
          <p:nvPr/>
        </p:nvPicPr>
        <p:blipFill>
          <a:blip r:embed="rId3"/>
          <a:stretch>
            <a:fillRect/>
          </a:stretch>
        </p:blipFill>
        <p:spPr>
          <a:xfrm>
            <a:off x="243191" y="1244183"/>
            <a:ext cx="11731558" cy="5321987"/>
          </a:xfrm>
          <a:prstGeom prst="rect">
            <a:avLst/>
          </a:prstGeom>
        </p:spPr>
      </p:pic>
    </p:spTree>
    <p:extLst>
      <p:ext uri="{BB962C8B-B14F-4D97-AF65-F5344CB8AC3E}">
        <p14:creationId xmlns:p14="http://schemas.microsoft.com/office/powerpoint/2010/main" val="5460277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3404A70-EF87-6D53-A339-8D7FC567746E}"/>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56" b="15475"/>
          <a:stretch>
            <a:fillRect/>
          </a:stretch>
        </p:blipFill>
        <p:spPr>
          <a:xfrm>
            <a:off x="20" y="10"/>
            <a:ext cx="12191980" cy="6857990"/>
          </a:xfrm>
          <a:prstGeom prst="rect">
            <a:avLst/>
          </a:prstGeom>
        </p:spPr>
      </p:pic>
      <p:pic>
        <p:nvPicPr>
          <p:cNvPr id="5" name="Picture 4">
            <a:extLst>
              <a:ext uri="{FF2B5EF4-FFF2-40B4-BE49-F238E27FC236}">
                <a16:creationId xmlns:a16="http://schemas.microsoft.com/office/drawing/2014/main" id="{26BEC92F-DA38-6082-1544-731AD3DF798F}"/>
              </a:ext>
            </a:extLst>
          </p:cNvPr>
          <p:cNvPicPr>
            <a:picLocks noChangeAspect="1"/>
          </p:cNvPicPr>
          <p:nvPr/>
        </p:nvPicPr>
        <p:blipFill>
          <a:blip r:embed="rId3"/>
          <a:stretch>
            <a:fillRect/>
          </a:stretch>
        </p:blipFill>
        <p:spPr>
          <a:xfrm>
            <a:off x="180870" y="158929"/>
            <a:ext cx="5771104" cy="6623708"/>
          </a:xfrm>
          <a:prstGeom prst="rect">
            <a:avLst/>
          </a:prstGeom>
        </p:spPr>
      </p:pic>
      <p:pic>
        <p:nvPicPr>
          <p:cNvPr id="7" name="Picture 6">
            <a:extLst>
              <a:ext uri="{FF2B5EF4-FFF2-40B4-BE49-F238E27FC236}">
                <a16:creationId xmlns:a16="http://schemas.microsoft.com/office/drawing/2014/main" id="{846EBFFA-1AF3-E5B8-0DA2-2FD802D8F146}"/>
              </a:ext>
            </a:extLst>
          </p:cNvPr>
          <p:cNvPicPr>
            <a:picLocks noChangeAspect="1"/>
          </p:cNvPicPr>
          <p:nvPr/>
        </p:nvPicPr>
        <p:blipFill>
          <a:blip r:embed="rId4"/>
          <a:stretch>
            <a:fillRect/>
          </a:stretch>
        </p:blipFill>
        <p:spPr>
          <a:xfrm>
            <a:off x="6240027" y="172605"/>
            <a:ext cx="5771104" cy="3922740"/>
          </a:xfrm>
          <a:prstGeom prst="rect">
            <a:avLst/>
          </a:prstGeom>
        </p:spPr>
      </p:pic>
      <p:pic>
        <p:nvPicPr>
          <p:cNvPr id="9" name="Picture 8">
            <a:extLst>
              <a:ext uri="{FF2B5EF4-FFF2-40B4-BE49-F238E27FC236}">
                <a16:creationId xmlns:a16="http://schemas.microsoft.com/office/drawing/2014/main" id="{A80C97A7-8BF6-D20F-8BE8-21A6C92B97C5}"/>
              </a:ext>
            </a:extLst>
          </p:cNvPr>
          <p:cNvPicPr>
            <a:picLocks noChangeAspect="1"/>
          </p:cNvPicPr>
          <p:nvPr/>
        </p:nvPicPr>
        <p:blipFill>
          <a:blip r:embed="rId5"/>
          <a:stretch>
            <a:fillRect/>
          </a:stretch>
        </p:blipFill>
        <p:spPr>
          <a:xfrm>
            <a:off x="6384053" y="4303455"/>
            <a:ext cx="5627077" cy="2346435"/>
          </a:xfrm>
          <a:prstGeom prst="rect">
            <a:avLst/>
          </a:prstGeom>
        </p:spPr>
      </p:pic>
    </p:spTree>
    <p:extLst>
      <p:ext uri="{BB962C8B-B14F-4D97-AF65-F5344CB8AC3E}">
        <p14:creationId xmlns:p14="http://schemas.microsoft.com/office/powerpoint/2010/main" val="7599156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085DC2D-609C-513E-BE8D-8741827ED684}"/>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56" b="15475"/>
          <a:stretch>
            <a:fillRect/>
          </a:stretch>
        </p:blipFill>
        <p:spPr>
          <a:xfrm>
            <a:off x="20" y="10"/>
            <a:ext cx="12191980" cy="6857990"/>
          </a:xfrm>
          <a:prstGeom prst="rect">
            <a:avLst/>
          </a:prstGeom>
        </p:spPr>
      </p:pic>
      <p:sp>
        <p:nvSpPr>
          <p:cNvPr id="4" name="TextBox 3">
            <a:extLst>
              <a:ext uri="{FF2B5EF4-FFF2-40B4-BE49-F238E27FC236}">
                <a16:creationId xmlns:a16="http://schemas.microsoft.com/office/drawing/2014/main" id="{C7400E9D-FB87-18E7-9087-8526A76381B2}"/>
              </a:ext>
            </a:extLst>
          </p:cNvPr>
          <p:cNvSpPr txBox="1"/>
          <p:nvPr/>
        </p:nvSpPr>
        <p:spPr>
          <a:xfrm>
            <a:off x="797668" y="233464"/>
            <a:ext cx="10428051" cy="738664"/>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chemeClr val="accent4">
                    <a:lumMod val="50000"/>
                  </a:schemeClr>
                </a:solidFill>
              </a:rPr>
              <a:t>  Select all quizzes created after January 1, 2024, from the Quizzes table.</a:t>
            </a:r>
          </a:p>
          <a:p>
            <a:pPr marL="285750" indent="-285750">
              <a:buFont typeface="Arial" panose="020B0604020202020204" pitchFamily="34" charset="0"/>
              <a:buChar char="•"/>
            </a:pPr>
            <a:endParaRPr lang="en-IN" dirty="0"/>
          </a:p>
        </p:txBody>
      </p:sp>
      <p:pic>
        <p:nvPicPr>
          <p:cNvPr id="12" name="Picture 11">
            <a:extLst>
              <a:ext uri="{FF2B5EF4-FFF2-40B4-BE49-F238E27FC236}">
                <a16:creationId xmlns:a16="http://schemas.microsoft.com/office/drawing/2014/main" id="{ACD64042-804F-F126-7A65-34A5D23588A2}"/>
              </a:ext>
            </a:extLst>
          </p:cNvPr>
          <p:cNvPicPr>
            <a:picLocks noChangeAspect="1"/>
          </p:cNvPicPr>
          <p:nvPr/>
        </p:nvPicPr>
        <p:blipFill>
          <a:blip r:embed="rId3"/>
          <a:stretch>
            <a:fillRect/>
          </a:stretch>
        </p:blipFill>
        <p:spPr>
          <a:xfrm>
            <a:off x="1410511" y="862906"/>
            <a:ext cx="8861898" cy="965894"/>
          </a:xfrm>
          <a:prstGeom prst="rect">
            <a:avLst/>
          </a:prstGeom>
        </p:spPr>
      </p:pic>
      <p:pic>
        <p:nvPicPr>
          <p:cNvPr id="14" name="Picture 13">
            <a:extLst>
              <a:ext uri="{FF2B5EF4-FFF2-40B4-BE49-F238E27FC236}">
                <a16:creationId xmlns:a16="http://schemas.microsoft.com/office/drawing/2014/main" id="{E864159A-86B1-F188-11C8-F0DEEB26D92B}"/>
              </a:ext>
            </a:extLst>
          </p:cNvPr>
          <p:cNvPicPr>
            <a:picLocks noChangeAspect="1"/>
          </p:cNvPicPr>
          <p:nvPr/>
        </p:nvPicPr>
        <p:blipFill>
          <a:blip r:embed="rId4"/>
          <a:stretch>
            <a:fillRect/>
          </a:stretch>
        </p:blipFill>
        <p:spPr>
          <a:xfrm>
            <a:off x="1410511" y="2804912"/>
            <a:ext cx="6536987" cy="3293161"/>
          </a:xfrm>
          <a:prstGeom prst="rect">
            <a:avLst/>
          </a:prstGeom>
        </p:spPr>
      </p:pic>
      <p:sp>
        <p:nvSpPr>
          <p:cNvPr id="15" name="TextBox 14">
            <a:extLst>
              <a:ext uri="{FF2B5EF4-FFF2-40B4-BE49-F238E27FC236}">
                <a16:creationId xmlns:a16="http://schemas.microsoft.com/office/drawing/2014/main" id="{7B1527C2-F2FB-D2D2-3502-F27710227FB5}"/>
              </a:ext>
            </a:extLst>
          </p:cNvPr>
          <p:cNvSpPr txBox="1"/>
          <p:nvPr/>
        </p:nvSpPr>
        <p:spPr>
          <a:xfrm>
            <a:off x="1410512" y="2120202"/>
            <a:ext cx="1634140" cy="461665"/>
          </a:xfrm>
          <a:prstGeom prst="rect">
            <a:avLst/>
          </a:prstGeom>
          <a:noFill/>
        </p:spPr>
        <p:txBody>
          <a:bodyPr wrap="square" rtlCol="0">
            <a:spAutoFit/>
          </a:bodyPr>
          <a:lstStyle/>
          <a:p>
            <a:r>
              <a:rPr lang="en-US" sz="2400" dirty="0">
                <a:solidFill>
                  <a:schemeClr val="accent4">
                    <a:lumMod val="50000"/>
                  </a:schemeClr>
                </a:solidFill>
              </a:rPr>
              <a:t>Output :</a:t>
            </a:r>
            <a:endParaRPr lang="en-IN" sz="2400" dirty="0">
              <a:solidFill>
                <a:schemeClr val="accent4">
                  <a:lumMod val="50000"/>
                </a:schemeClr>
              </a:solidFill>
            </a:endParaRPr>
          </a:p>
        </p:txBody>
      </p:sp>
    </p:spTree>
    <p:extLst>
      <p:ext uri="{BB962C8B-B14F-4D97-AF65-F5344CB8AC3E}">
        <p14:creationId xmlns:p14="http://schemas.microsoft.com/office/powerpoint/2010/main" val="36940161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3524C8-CE85-3EA4-1252-0EDF2F9AA058}"/>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56" b="15475"/>
          <a:stretch>
            <a:fillRect/>
          </a:stretch>
        </p:blipFill>
        <p:spPr>
          <a:xfrm>
            <a:off x="20" y="10"/>
            <a:ext cx="12191980" cy="6857990"/>
          </a:xfrm>
          <a:prstGeom prst="rect">
            <a:avLst/>
          </a:prstGeom>
        </p:spPr>
      </p:pic>
      <p:sp>
        <p:nvSpPr>
          <p:cNvPr id="4" name="TextBox 3">
            <a:extLst>
              <a:ext uri="{FF2B5EF4-FFF2-40B4-BE49-F238E27FC236}">
                <a16:creationId xmlns:a16="http://schemas.microsoft.com/office/drawing/2014/main" id="{A1102B36-22CD-1489-6547-1540EB12833C}"/>
              </a:ext>
            </a:extLst>
          </p:cNvPr>
          <p:cNvSpPr txBox="1"/>
          <p:nvPr/>
        </p:nvSpPr>
        <p:spPr>
          <a:xfrm>
            <a:off x="1089498" y="155643"/>
            <a:ext cx="9708204" cy="1107996"/>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chemeClr val="accent4">
                    <a:lumMod val="50000"/>
                  </a:schemeClr>
                </a:solidFill>
              </a:rPr>
              <a:t>Select all questions where the </a:t>
            </a:r>
            <a:r>
              <a:rPr lang="en-US" sz="2400" dirty="0" err="1">
                <a:solidFill>
                  <a:schemeClr val="accent4">
                    <a:lumMod val="50000"/>
                  </a:schemeClr>
                </a:solidFill>
              </a:rPr>
              <a:t>QuestionType</a:t>
            </a:r>
            <a:r>
              <a:rPr lang="en-US" sz="2400" dirty="0">
                <a:solidFill>
                  <a:schemeClr val="accent4">
                    <a:lumMod val="50000"/>
                  </a:schemeClr>
                </a:solidFill>
              </a:rPr>
              <a:t> is 'Multiple Choice' and the </a:t>
            </a:r>
            <a:r>
              <a:rPr lang="en-US" sz="2400" dirty="0" err="1">
                <a:solidFill>
                  <a:schemeClr val="accent4">
                    <a:lumMod val="50000"/>
                  </a:schemeClr>
                </a:solidFill>
              </a:rPr>
              <a:t>QuizID</a:t>
            </a:r>
            <a:r>
              <a:rPr lang="en-US" sz="2400" dirty="0">
                <a:solidFill>
                  <a:schemeClr val="accent4">
                    <a:lumMod val="50000"/>
                  </a:schemeClr>
                </a:solidFill>
              </a:rPr>
              <a:t> is 3.</a:t>
            </a:r>
          </a:p>
          <a:p>
            <a:endParaRPr lang="en-IN" dirty="0"/>
          </a:p>
        </p:txBody>
      </p:sp>
      <p:pic>
        <p:nvPicPr>
          <p:cNvPr id="6" name="Picture 5">
            <a:extLst>
              <a:ext uri="{FF2B5EF4-FFF2-40B4-BE49-F238E27FC236}">
                <a16:creationId xmlns:a16="http://schemas.microsoft.com/office/drawing/2014/main" id="{6928A3A6-851C-5905-07E3-D0E3E4EC60F3}"/>
              </a:ext>
            </a:extLst>
          </p:cNvPr>
          <p:cNvPicPr>
            <a:picLocks noChangeAspect="1"/>
          </p:cNvPicPr>
          <p:nvPr/>
        </p:nvPicPr>
        <p:blipFill>
          <a:blip r:embed="rId3"/>
          <a:stretch>
            <a:fillRect/>
          </a:stretch>
        </p:blipFill>
        <p:spPr>
          <a:xfrm>
            <a:off x="1541491" y="1263639"/>
            <a:ext cx="8886560" cy="954267"/>
          </a:xfrm>
          <a:prstGeom prst="rect">
            <a:avLst/>
          </a:prstGeom>
        </p:spPr>
      </p:pic>
      <p:pic>
        <p:nvPicPr>
          <p:cNvPr id="8" name="Picture 7">
            <a:extLst>
              <a:ext uri="{FF2B5EF4-FFF2-40B4-BE49-F238E27FC236}">
                <a16:creationId xmlns:a16="http://schemas.microsoft.com/office/drawing/2014/main" id="{AA7ABDDF-84C3-309B-463A-7125EC9C0F18}"/>
              </a:ext>
            </a:extLst>
          </p:cNvPr>
          <p:cNvPicPr>
            <a:picLocks noChangeAspect="1"/>
          </p:cNvPicPr>
          <p:nvPr/>
        </p:nvPicPr>
        <p:blipFill>
          <a:blip r:embed="rId4"/>
          <a:stretch>
            <a:fillRect/>
          </a:stretch>
        </p:blipFill>
        <p:spPr>
          <a:xfrm>
            <a:off x="1541491" y="3398341"/>
            <a:ext cx="7971450" cy="1969851"/>
          </a:xfrm>
          <a:prstGeom prst="rect">
            <a:avLst/>
          </a:prstGeom>
        </p:spPr>
      </p:pic>
      <p:sp>
        <p:nvSpPr>
          <p:cNvPr id="9" name="TextBox 8">
            <a:extLst>
              <a:ext uri="{FF2B5EF4-FFF2-40B4-BE49-F238E27FC236}">
                <a16:creationId xmlns:a16="http://schemas.microsoft.com/office/drawing/2014/main" id="{F69061B1-75BE-1BB3-D94C-D5A56AA865E6}"/>
              </a:ext>
            </a:extLst>
          </p:cNvPr>
          <p:cNvSpPr txBox="1"/>
          <p:nvPr/>
        </p:nvSpPr>
        <p:spPr>
          <a:xfrm>
            <a:off x="1541491" y="2529191"/>
            <a:ext cx="2962415" cy="461665"/>
          </a:xfrm>
          <a:prstGeom prst="rect">
            <a:avLst/>
          </a:prstGeom>
          <a:noFill/>
        </p:spPr>
        <p:txBody>
          <a:bodyPr wrap="square" rtlCol="0">
            <a:spAutoFit/>
          </a:bodyPr>
          <a:lstStyle/>
          <a:p>
            <a:r>
              <a:rPr lang="en-US" sz="2400" dirty="0">
                <a:solidFill>
                  <a:schemeClr val="accent4">
                    <a:lumMod val="50000"/>
                  </a:schemeClr>
                </a:solidFill>
              </a:rPr>
              <a:t>Output :</a:t>
            </a:r>
            <a:endParaRPr lang="en-IN" sz="2400" dirty="0">
              <a:solidFill>
                <a:schemeClr val="accent4">
                  <a:lumMod val="50000"/>
                </a:schemeClr>
              </a:solidFill>
            </a:endParaRPr>
          </a:p>
        </p:txBody>
      </p:sp>
    </p:spTree>
    <p:extLst>
      <p:ext uri="{BB962C8B-B14F-4D97-AF65-F5344CB8AC3E}">
        <p14:creationId xmlns:p14="http://schemas.microsoft.com/office/powerpoint/2010/main" val="27770459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058AC-1409-3774-4DC9-673A6EBC6BA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343ACD0-6454-E0BF-FE2F-C94380105A9C}"/>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56" b="15475"/>
          <a:stretch>
            <a:fillRect/>
          </a:stretch>
        </p:blipFill>
        <p:spPr>
          <a:xfrm>
            <a:off x="20" y="10"/>
            <a:ext cx="12191980" cy="6857990"/>
          </a:xfrm>
          <a:prstGeom prst="rect">
            <a:avLst/>
          </a:prstGeom>
        </p:spPr>
      </p:pic>
      <p:sp>
        <p:nvSpPr>
          <p:cNvPr id="4" name="TextBox 3">
            <a:extLst>
              <a:ext uri="{FF2B5EF4-FFF2-40B4-BE49-F238E27FC236}">
                <a16:creationId xmlns:a16="http://schemas.microsoft.com/office/drawing/2014/main" id="{7A73889F-E012-E36C-3139-81D4ED4D9D56}"/>
              </a:ext>
            </a:extLst>
          </p:cNvPr>
          <p:cNvSpPr txBox="1"/>
          <p:nvPr/>
        </p:nvSpPr>
        <p:spPr>
          <a:xfrm>
            <a:off x="1089498" y="155643"/>
            <a:ext cx="9708204" cy="738664"/>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chemeClr val="accent4">
                    <a:lumMod val="50000"/>
                  </a:schemeClr>
                </a:solidFill>
              </a:rPr>
              <a:t>Select all quizzes where the </a:t>
            </a:r>
            <a:r>
              <a:rPr lang="en-US" sz="2400" dirty="0" err="1">
                <a:solidFill>
                  <a:schemeClr val="accent4">
                    <a:lumMod val="50000"/>
                  </a:schemeClr>
                </a:solidFill>
              </a:rPr>
              <a:t>QuizName</a:t>
            </a:r>
            <a:r>
              <a:rPr lang="en-US" sz="2400" dirty="0">
                <a:solidFill>
                  <a:schemeClr val="accent4">
                    <a:lumMod val="50000"/>
                  </a:schemeClr>
                </a:solidFill>
              </a:rPr>
              <a:t> contains 'General'.</a:t>
            </a:r>
          </a:p>
          <a:p>
            <a:endParaRPr lang="en-IN" dirty="0"/>
          </a:p>
        </p:txBody>
      </p:sp>
      <p:sp>
        <p:nvSpPr>
          <p:cNvPr id="9" name="TextBox 8">
            <a:extLst>
              <a:ext uri="{FF2B5EF4-FFF2-40B4-BE49-F238E27FC236}">
                <a16:creationId xmlns:a16="http://schemas.microsoft.com/office/drawing/2014/main" id="{661408EB-293C-16F2-5DA2-D7DBB8458DD5}"/>
              </a:ext>
            </a:extLst>
          </p:cNvPr>
          <p:cNvSpPr txBox="1"/>
          <p:nvPr/>
        </p:nvSpPr>
        <p:spPr>
          <a:xfrm>
            <a:off x="1541491" y="2142526"/>
            <a:ext cx="2962415" cy="461665"/>
          </a:xfrm>
          <a:prstGeom prst="rect">
            <a:avLst/>
          </a:prstGeom>
          <a:noFill/>
        </p:spPr>
        <p:txBody>
          <a:bodyPr wrap="square" rtlCol="0">
            <a:spAutoFit/>
          </a:bodyPr>
          <a:lstStyle/>
          <a:p>
            <a:r>
              <a:rPr lang="en-US" sz="2400" dirty="0">
                <a:solidFill>
                  <a:schemeClr val="accent4">
                    <a:lumMod val="50000"/>
                  </a:schemeClr>
                </a:solidFill>
              </a:rPr>
              <a:t>Output :</a:t>
            </a:r>
            <a:endParaRPr lang="en-IN" sz="2400" dirty="0">
              <a:solidFill>
                <a:schemeClr val="accent4">
                  <a:lumMod val="50000"/>
                </a:schemeClr>
              </a:solidFill>
            </a:endParaRPr>
          </a:p>
        </p:txBody>
      </p:sp>
      <p:pic>
        <p:nvPicPr>
          <p:cNvPr id="5" name="Picture 4">
            <a:extLst>
              <a:ext uri="{FF2B5EF4-FFF2-40B4-BE49-F238E27FC236}">
                <a16:creationId xmlns:a16="http://schemas.microsoft.com/office/drawing/2014/main" id="{D37E3F2B-1DBF-609E-82B6-252320C17E3E}"/>
              </a:ext>
            </a:extLst>
          </p:cNvPr>
          <p:cNvPicPr>
            <a:picLocks noChangeAspect="1"/>
          </p:cNvPicPr>
          <p:nvPr/>
        </p:nvPicPr>
        <p:blipFill>
          <a:blip r:embed="rId3"/>
          <a:stretch>
            <a:fillRect/>
          </a:stretch>
        </p:blipFill>
        <p:spPr>
          <a:xfrm>
            <a:off x="1541491" y="894307"/>
            <a:ext cx="8449171" cy="648623"/>
          </a:xfrm>
          <a:prstGeom prst="rect">
            <a:avLst/>
          </a:prstGeom>
        </p:spPr>
      </p:pic>
      <p:pic>
        <p:nvPicPr>
          <p:cNvPr id="10" name="Picture 9">
            <a:extLst>
              <a:ext uri="{FF2B5EF4-FFF2-40B4-BE49-F238E27FC236}">
                <a16:creationId xmlns:a16="http://schemas.microsoft.com/office/drawing/2014/main" id="{D05C671E-7348-920B-8B31-F11FF8841000}"/>
              </a:ext>
            </a:extLst>
          </p:cNvPr>
          <p:cNvPicPr>
            <a:picLocks noChangeAspect="1"/>
          </p:cNvPicPr>
          <p:nvPr/>
        </p:nvPicPr>
        <p:blipFill>
          <a:blip r:embed="rId4"/>
          <a:stretch>
            <a:fillRect/>
          </a:stretch>
        </p:blipFill>
        <p:spPr>
          <a:xfrm>
            <a:off x="1541491" y="2966936"/>
            <a:ext cx="7048032" cy="2783375"/>
          </a:xfrm>
          <a:prstGeom prst="rect">
            <a:avLst/>
          </a:prstGeom>
        </p:spPr>
      </p:pic>
    </p:spTree>
    <p:extLst>
      <p:ext uri="{BB962C8B-B14F-4D97-AF65-F5344CB8AC3E}">
        <p14:creationId xmlns:p14="http://schemas.microsoft.com/office/powerpoint/2010/main" val="6094843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8013C-BE4C-E33F-A53F-DC3F3749E89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5D3848B-591D-74C7-543F-81DC3B706C3A}"/>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56" b="15475"/>
          <a:stretch>
            <a:fillRect/>
          </a:stretch>
        </p:blipFill>
        <p:spPr>
          <a:xfrm>
            <a:off x="20" y="10"/>
            <a:ext cx="12191980" cy="6857990"/>
          </a:xfrm>
          <a:prstGeom prst="rect">
            <a:avLst/>
          </a:prstGeom>
        </p:spPr>
      </p:pic>
      <p:sp>
        <p:nvSpPr>
          <p:cNvPr id="4" name="TextBox 3">
            <a:extLst>
              <a:ext uri="{FF2B5EF4-FFF2-40B4-BE49-F238E27FC236}">
                <a16:creationId xmlns:a16="http://schemas.microsoft.com/office/drawing/2014/main" id="{D30B4091-90AC-B96D-8AB1-6D32686C366B}"/>
              </a:ext>
            </a:extLst>
          </p:cNvPr>
          <p:cNvSpPr txBox="1"/>
          <p:nvPr/>
        </p:nvSpPr>
        <p:spPr>
          <a:xfrm>
            <a:off x="1089498" y="155643"/>
            <a:ext cx="9708204" cy="830997"/>
          </a:xfrm>
          <a:prstGeom prst="rect">
            <a:avLst/>
          </a:prstGeom>
          <a:noFill/>
        </p:spPr>
        <p:txBody>
          <a:bodyPr wrap="square" rtlCol="0">
            <a:spAutoFit/>
          </a:bodyPr>
          <a:lstStyle/>
          <a:p>
            <a:pPr marL="342900" indent="-342900" algn="ctr">
              <a:buFont typeface="Arial" panose="020B0604020202020204" pitchFamily="34" charset="0"/>
              <a:buChar char="•"/>
            </a:pPr>
            <a:r>
              <a:rPr lang="en-US" sz="2400" dirty="0">
                <a:solidFill>
                  <a:schemeClr val="accent4">
                    <a:lumMod val="50000"/>
                  </a:schemeClr>
                </a:solidFill>
              </a:rPr>
              <a:t>Select </a:t>
            </a:r>
            <a:r>
              <a:rPr lang="en-US" sz="2400" dirty="0" err="1">
                <a:solidFill>
                  <a:schemeClr val="accent4">
                    <a:lumMod val="50000"/>
                  </a:schemeClr>
                </a:solidFill>
              </a:rPr>
              <a:t>OptionText</a:t>
            </a:r>
            <a:r>
              <a:rPr lang="en-US" sz="2400" dirty="0">
                <a:solidFill>
                  <a:schemeClr val="accent4">
                    <a:lumMod val="50000"/>
                  </a:schemeClr>
                </a:solidFill>
              </a:rPr>
              <a:t> and a new column </a:t>
            </a:r>
            <a:r>
              <a:rPr lang="en-US" sz="2400" dirty="0" err="1">
                <a:solidFill>
                  <a:schemeClr val="accent4">
                    <a:lumMod val="50000"/>
                  </a:schemeClr>
                </a:solidFill>
              </a:rPr>
              <a:t>OptionStatus</a:t>
            </a:r>
            <a:r>
              <a:rPr lang="en-US" sz="2400" dirty="0">
                <a:solidFill>
                  <a:schemeClr val="accent4">
                    <a:lumMod val="50000"/>
                  </a:schemeClr>
                </a:solidFill>
              </a:rPr>
              <a:t> from the Options table. If </a:t>
            </a:r>
            <a:r>
              <a:rPr lang="en-US" sz="2400" dirty="0" err="1">
                <a:solidFill>
                  <a:schemeClr val="accent4">
                    <a:lumMod val="50000"/>
                  </a:schemeClr>
                </a:solidFill>
              </a:rPr>
              <a:t>IsCorrect</a:t>
            </a:r>
            <a:r>
              <a:rPr lang="en-US" sz="2400" dirty="0">
                <a:solidFill>
                  <a:schemeClr val="accent4">
                    <a:lumMod val="50000"/>
                  </a:schemeClr>
                </a:solidFill>
              </a:rPr>
              <a:t> is TRUE, set </a:t>
            </a:r>
            <a:r>
              <a:rPr lang="en-US" sz="2400" dirty="0" err="1">
                <a:solidFill>
                  <a:schemeClr val="accent4">
                    <a:lumMod val="50000"/>
                  </a:schemeClr>
                </a:solidFill>
              </a:rPr>
              <a:t>OptionStatus</a:t>
            </a:r>
            <a:r>
              <a:rPr lang="en-US" sz="2400" dirty="0">
                <a:solidFill>
                  <a:schemeClr val="accent4">
                    <a:lumMod val="50000"/>
                  </a:schemeClr>
                </a:solidFill>
              </a:rPr>
              <a:t> to 'Correct', otherwise 'Incorrect'.</a:t>
            </a:r>
            <a:endParaRPr lang="en-IN" sz="2400" dirty="0">
              <a:solidFill>
                <a:schemeClr val="accent4">
                  <a:lumMod val="50000"/>
                </a:schemeClr>
              </a:solidFill>
            </a:endParaRPr>
          </a:p>
        </p:txBody>
      </p:sp>
      <p:pic>
        <p:nvPicPr>
          <p:cNvPr id="6" name="Picture 5">
            <a:extLst>
              <a:ext uri="{FF2B5EF4-FFF2-40B4-BE49-F238E27FC236}">
                <a16:creationId xmlns:a16="http://schemas.microsoft.com/office/drawing/2014/main" id="{27373A86-8EE6-9C1F-9781-2CDD12AF30A1}"/>
              </a:ext>
            </a:extLst>
          </p:cNvPr>
          <p:cNvPicPr>
            <a:picLocks noChangeAspect="1"/>
          </p:cNvPicPr>
          <p:nvPr/>
        </p:nvPicPr>
        <p:blipFill>
          <a:blip r:embed="rId3"/>
          <a:stretch>
            <a:fillRect/>
          </a:stretch>
        </p:blipFill>
        <p:spPr>
          <a:xfrm>
            <a:off x="1697134" y="1585609"/>
            <a:ext cx="8186168" cy="4017523"/>
          </a:xfrm>
          <a:prstGeom prst="rect">
            <a:avLst/>
          </a:prstGeom>
        </p:spPr>
      </p:pic>
    </p:spTree>
    <p:extLst>
      <p:ext uri="{BB962C8B-B14F-4D97-AF65-F5344CB8AC3E}">
        <p14:creationId xmlns:p14="http://schemas.microsoft.com/office/powerpoint/2010/main" val="41942667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407AF9-D98E-8796-5798-63729BCC10FC}"/>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56" b="15475"/>
          <a:stretch>
            <a:fillRect/>
          </a:stretch>
        </p:blipFill>
        <p:spPr>
          <a:xfrm>
            <a:off x="20" y="10"/>
            <a:ext cx="12191980" cy="6857990"/>
          </a:xfrm>
          <a:prstGeom prst="rect">
            <a:avLst/>
          </a:prstGeom>
        </p:spPr>
      </p:pic>
      <p:sp>
        <p:nvSpPr>
          <p:cNvPr id="4" name="TextBox 3">
            <a:extLst>
              <a:ext uri="{FF2B5EF4-FFF2-40B4-BE49-F238E27FC236}">
                <a16:creationId xmlns:a16="http://schemas.microsoft.com/office/drawing/2014/main" id="{FA1CC8FB-6066-6913-8A3D-0ABF615B9EF6}"/>
              </a:ext>
            </a:extLst>
          </p:cNvPr>
          <p:cNvSpPr txBox="1"/>
          <p:nvPr/>
        </p:nvSpPr>
        <p:spPr>
          <a:xfrm>
            <a:off x="1317755" y="469369"/>
            <a:ext cx="2962415" cy="461665"/>
          </a:xfrm>
          <a:prstGeom prst="rect">
            <a:avLst/>
          </a:prstGeom>
          <a:noFill/>
        </p:spPr>
        <p:txBody>
          <a:bodyPr wrap="square" rtlCol="0">
            <a:spAutoFit/>
          </a:bodyPr>
          <a:lstStyle/>
          <a:p>
            <a:r>
              <a:rPr lang="en-US" sz="2400" dirty="0">
                <a:solidFill>
                  <a:schemeClr val="accent4">
                    <a:lumMod val="50000"/>
                  </a:schemeClr>
                </a:solidFill>
              </a:rPr>
              <a:t>Output :</a:t>
            </a:r>
            <a:endParaRPr lang="en-IN" sz="2400" dirty="0">
              <a:solidFill>
                <a:schemeClr val="accent4">
                  <a:lumMod val="50000"/>
                </a:schemeClr>
              </a:solidFill>
            </a:endParaRPr>
          </a:p>
        </p:txBody>
      </p:sp>
      <p:pic>
        <p:nvPicPr>
          <p:cNvPr id="5" name="Picture 4">
            <a:extLst>
              <a:ext uri="{FF2B5EF4-FFF2-40B4-BE49-F238E27FC236}">
                <a16:creationId xmlns:a16="http://schemas.microsoft.com/office/drawing/2014/main" id="{B59479E0-405A-AB76-FFB7-F612DF80E366}"/>
              </a:ext>
            </a:extLst>
          </p:cNvPr>
          <p:cNvPicPr>
            <a:picLocks noChangeAspect="1"/>
          </p:cNvPicPr>
          <p:nvPr/>
        </p:nvPicPr>
        <p:blipFill>
          <a:blip r:embed="rId3"/>
          <a:stretch>
            <a:fillRect/>
          </a:stretch>
        </p:blipFill>
        <p:spPr>
          <a:xfrm>
            <a:off x="1410510" y="1099226"/>
            <a:ext cx="4931924" cy="4640093"/>
          </a:xfrm>
          <a:prstGeom prst="rect">
            <a:avLst/>
          </a:prstGeom>
        </p:spPr>
      </p:pic>
    </p:spTree>
    <p:extLst>
      <p:ext uri="{BB962C8B-B14F-4D97-AF65-F5344CB8AC3E}">
        <p14:creationId xmlns:p14="http://schemas.microsoft.com/office/powerpoint/2010/main" val="42020752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897622-C3EE-F2AF-1D87-8ED28B367BDB}"/>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56" b="15475"/>
          <a:stretch>
            <a:fillRect/>
          </a:stretch>
        </p:blipFill>
        <p:spPr>
          <a:xfrm>
            <a:off x="20" y="10"/>
            <a:ext cx="12191980" cy="6857990"/>
          </a:xfrm>
          <a:prstGeom prst="rect">
            <a:avLst/>
          </a:prstGeom>
        </p:spPr>
      </p:pic>
      <p:sp>
        <p:nvSpPr>
          <p:cNvPr id="4" name="TextBox 3">
            <a:extLst>
              <a:ext uri="{FF2B5EF4-FFF2-40B4-BE49-F238E27FC236}">
                <a16:creationId xmlns:a16="http://schemas.microsoft.com/office/drawing/2014/main" id="{53217641-13A9-9FCB-B70A-6B2E73013618}"/>
              </a:ext>
            </a:extLst>
          </p:cNvPr>
          <p:cNvSpPr txBox="1"/>
          <p:nvPr/>
        </p:nvSpPr>
        <p:spPr>
          <a:xfrm>
            <a:off x="924128" y="428017"/>
            <a:ext cx="10155677" cy="461665"/>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chemeClr val="accent4">
                    <a:lumMod val="50000"/>
                  </a:schemeClr>
                </a:solidFill>
              </a:rPr>
              <a:t>Find all users who have answered more than 20 questions. </a:t>
            </a:r>
            <a:endParaRPr lang="en-IN" sz="2400" dirty="0">
              <a:solidFill>
                <a:schemeClr val="accent4">
                  <a:lumMod val="50000"/>
                </a:schemeClr>
              </a:solidFill>
            </a:endParaRPr>
          </a:p>
        </p:txBody>
      </p:sp>
      <p:pic>
        <p:nvPicPr>
          <p:cNvPr id="6" name="Picture 5">
            <a:extLst>
              <a:ext uri="{FF2B5EF4-FFF2-40B4-BE49-F238E27FC236}">
                <a16:creationId xmlns:a16="http://schemas.microsoft.com/office/drawing/2014/main" id="{B4454688-0FC5-8A88-FE47-55C030F738F3}"/>
              </a:ext>
            </a:extLst>
          </p:cNvPr>
          <p:cNvPicPr>
            <a:picLocks noChangeAspect="1"/>
          </p:cNvPicPr>
          <p:nvPr/>
        </p:nvPicPr>
        <p:blipFill>
          <a:blip r:embed="rId3"/>
          <a:stretch>
            <a:fillRect/>
          </a:stretch>
        </p:blipFill>
        <p:spPr>
          <a:xfrm>
            <a:off x="1391054" y="1138136"/>
            <a:ext cx="10330775" cy="1245141"/>
          </a:xfrm>
          <a:prstGeom prst="rect">
            <a:avLst/>
          </a:prstGeom>
        </p:spPr>
      </p:pic>
      <p:sp>
        <p:nvSpPr>
          <p:cNvPr id="7" name="TextBox 6">
            <a:extLst>
              <a:ext uri="{FF2B5EF4-FFF2-40B4-BE49-F238E27FC236}">
                <a16:creationId xmlns:a16="http://schemas.microsoft.com/office/drawing/2014/main" id="{2DE5B794-166A-DE13-01AD-4E3A6123AA86}"/>
              </a:ext>
            </a:extLst>
          </p:cNvPr>
          <p:cNvSpPr txBox="1"/>
          <p:nvPr/>
        </p:nvSpPr>
        <p:spPr>
          <a:xfrm>
            <a:off x="1391054" y="2967335"/>
            <a:ext cx="2962415" cy="461665"/>
          </a:xfrm>
          <a:prstGeom prst="rect">
            <a:avLst/>
          </a:prstGeom>
          <a:noFill/>
        </p:spPr>
        <p:txBody>
          <a:bodyPr wrap="square" rtlCol="0">
            <a:spAutoFit/>
          </a:bodyPr>
          <a:lstStyle/>
          <a:p>
            <a:r>
              <a:rPr lang="en-US" sz="2400" dirty="0">
                <a:solidFill>
                  <a:schemeClr val="accent4">
                    <a:lumMod val="50000"/>
                  </a:schemeClr>
                </a:solidFill>
              </a:rPr>
              <a:t>Output :</a:t>
            </a:r>
            <a:endParaRPr lang="en-IN" sz="2400" dirty="0">
              <a:solidFill>
                <a:schemeClr val="accent4">
                  <a:lumMod val="50000"/>
                </a:schemeClr>
              </a:solidFill>
            </a:endParaRPr>
          </a:p>
        </p:txBody>
      </p:sp>
      <p:pic>
        <p:nvPicPr>
          <p:cNvPr id="9" name="Picture 8">
            <a:extLst>
              <a:ext uri="{FF2B5EF4-FFF2-40B4-BE49-F238E27FC236}">
                <a16:creationId xmlns:a16="http://schemas.microsoft.com/office/drawing/2014/main" id="{09A11C21-7606-AFA8-9C45-E3218FD5B03C}"/>
              </a:ext>
            </a:extLst>
          </p:cNvPr>
          <p:cNvPicPr>
            <a:picLocks noChangeAspect="1"/>
          </p:cNvPicPr>
          <p:nvPr/>
        </p:nvPicPr>
        <p:blipFill>
          <a:blip r:embed="rId4"/>
          <a:stretch>
            <a:fillRect/>
          </a:stretch>
        </p:blipFill>
        <p:spPr>
          <a:xfrm>
            <a:off x="1391054" y="3708325"/>
            <a:ext cx="7694642" cy="1048501"/>
          </a:xfrm>
          <a:prstGeom prst="rect">
            <a:avLst/>
          </a:prstGeom>
        </p:spPr>
      </p:pic>
    </p:spTree>
    <p:extLst>
      <p:ext uri="{BB962C8B-B14F-4D97-AF65-F5344CB8AC3E}">
        <p14:creationId xmlns:p14="http://schemas.microsoft.com/office/powerpoint/2010/main" val="2490751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86581-F30B-36D4-21EA-77BBD259ACB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CA61BB9-ADDA-727B-FD41-0933C729A70A}"/>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56" b="15475"/>
          <a:stretch>
            <a:fillRect/>
          </a:stretch>
        </p:blipFill>
        <p:spPr>
          <a:xfrm>
            <a:off x="20" y="10"/>
            <a:ext cx="12191980" cy="6857990"/>
          </a:xfrm>
          <a:prstGeom prst="rect">
            <a:avLst/>
          </a:prstGeom>
        </p:spPr>
      </p:pic>
      <p:sp>
        <p:nvSpPr>
          <p:cNvPr id="4" name="TextBox 3">
            <a:extLst>
              <a:ext uri="{FF2B5EF4-FFF2-40B4-BE49-F238E27FC236}">
                <a16:creationId xmlns:a16="http://schemas.microsoft.com/office/drawing/2014/main" id="{58B1D41F-688B-546C-95C0-FCAD993DBBBB}"/>
              </a:ext>
            </a:extLst>
          </p:cNvPr>
          <p:cNvSpPr txBox="1"/>
          <p:nvPr/>
        </p:nvSpPr>
        <p:spPr>
          <a:xfrm>
            <a:off x="924128" y="428017"/>
            <a:ext cx="10155677" cy="461665"/>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chemeClr val="accent4">
                    <a:lumMod val="50000"/>
                  </a:schemeClr>
                </a:solidFill>
              </a:rPr>
              <a:t> Total number of questions for each quiz.</a:t>
            </a:r>
            <a:endParaRPr lang="en-IN" sz="2400" dirty="0">
              <a:solidFill>
                <a:schemeClr val="accent4">
                  <a:lumMod val="50000"/>
                </a:schemeClr>
              </a:solidFill>
            </a:endParaRPr>
          </a:p>
        </p:txBody>
      </p:sp>
      <p:sp>
        <p:nvSpPr>
          <p:cNvPr id="7" name="TextBox 6">
            <a:extLst>
              <a:ext uri="{FF2B5EF4-FFF2-40B4-BE49-F238E27FC236}">
                <a16:creationId xmlns:a16="http://schemas.microsoft.com/office/drawing/2014/main" id="{77DCD146-329F-43EA-4D3D-CFCA26C10C5C}"/>
              </a:ext>
            </a:extLst>
          </p:cNvPr>
          <p:cNvSpPr txBox="1"/>
          <p:nvPr/>
        </p:nvSpPr>
        <p:spPr>
          <a:xfrm>
            <a:off x="1391054" y="2839287"/>
            <a:ext cx="2962415" cy="461665"/>
          </a:xfrm>
          <a:prstGeom prst="rect">
            <a:avLst/>
          </a:prstGeom>
          <a:noFill/>
        </p:spPr>
        <p:txBody>
          <a:bodyPr wrap="square" rtlCol="0">
            <a:spAutoFit/>
          </a:bodyPr>
          <a:lstStyle/>
          <a:p>
            <a:r>
              <a:rPr lang="en-US" sz="2400" dirty="0">
                <a:solidFill>
                  <a:schemeClr val="accent4">
                    <a:lumMod val="50000"/>
                  </a:schemeClr>
                </a:solidFill>
              </a:rPr>
              <a:t>Output :</a:t>
            </a:r>
            <a:endParaRPr lang="en-IN" sz="2400" dirty="0">
              <a:solidFill>
                <a:schemeClr val="accent4">
                  <a:lumMod val="50000"/>
                </a:schemeClr>
              </a:solidFill>
            </a:endParaRPr>
          </a:p>
        </p:txBody>
      </p:sp>
      <p:pic>
        <p:nvPicPr>
          <p:cNvPr id="5" name="Picture 4">
            <a:extLst>
              <a:ext uri="{FF2B5EF4-FFF2-40B4-BE49-F238E27FC236}">
                <a16:creationId xmlns:a16="http://schemas.microsoft.com/office/drawing/2014/main" id="{605AA2DF-085A-F33A-AA5F-5192C21BE631}"/>
              </a:ext>
            </a:extLst>
          </p:cNvPr>
          <p:cNvPicPr>
            <a:picLocks noChangeAspect="1"/>
          </p:cNvPicPr>
          <p:nvPr/>
        </p:nvPicPr>
        <p:blipFill>
          <a:blip r:embed="rId3"/>
          <a:stretch>
            <a:fillRect/>
          </a:stretch>
        </p:blipFill>
        <p:spPr>
          <a:xfrm>
            <a:off x="1303505" y="1169007"/>
            <a:ext cx="10642061" cy="1262908"/>
          </a:xfrm>
          <a:prstGeom prst="rect">
            <a:avLst/>
          </a:prstGeom>
        </p:spPr>
      </p:pic>
      <p:pic>
        <p:nvPicPr>
          <p:cNvPr id="10" name="Picture 9">
            <a:extLst>
              <a:ext uri="{FF2B5EF4-FFF2-40B4-BE49-F238E27FC236}">
                <a16:creationId xmlns:a16="http://schemas.microsoft.com/office/drawing/2014/main" id="{763297BA-A050-56AC-E719-3A3FF908CBB8}"/>
              </a:ext>
            </a:extLst>
          </p:cNvPr>
          <p:cNvPicPr>
            <a:picLocks noChangeAspect="1"/>
          </p:cNvPicPr>
          <p:nvPr/>
        </p:nvPicPr>
        <p:blipFill>
          <a:blip r:embed="rId4"/>
          <a:stretch>
            <a:fillRect/>
          </a:stretch>
        </p:blipFill>
        <p:spPr>
          <a:xfrm>
            <a:off x="1391053" y="3557048"/>
            <a:ext cx="4066163" cy="3028577"/>
          </a:xfrm>
          <a:prstGeom prst="rect">
            <a:avLst/>
          </a:prstGeom>
        </p:spPr>
      </p:pic>
    </p:spTree>
    <p:extLst>
      <p:ext uri="{BB962C8B-B14F-4D97-AF65-F5344CB8AC3E}">
        <p14:creationId xmlns:p14="http://schemas.microsoft.com/office/powerpoint/2010/main" val="28834953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49DE7-8BA5-5C39-D5F7-83A16E261F2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B669CE6-DBE7-F3AB-BFFC-CC0A64435237}"/>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56" b="15475"/>
          <a:stretch>
            <a:fillRect/>
          </a:stretch>
        </p:blipFill>
        <p:spPr>
          <a:xfrm>
            <a:off x="20" y="10"/>
            <a:ext cx="12191980" cy="6857990"/>
          </a:xfrm>
          <a:prstGeom prst="rect">
            <a:avLst/>
          </a:prstGeom>
        </p:spPr>
      </p:pic>
      <p:sp>
        <p:nvSpPr>
          <p:cNvPr id="4" name="TextBox 3">
            <a:extLst>
              <a:ext uri="{FF2B5EF4-FFF2-40B4-BE49-F238E27FC236}">
                <a16:creationId xmlns:a16="http://schemas.microsoft.com/office/drawing/2014/main" id="{0AA2DD37-148C-0842-DD8C-880CEAA44736}"/>
              </a:ext>
            </a:extLst>
          </p:cNvPr>
          <p:cNvSpPr txBox="1"/>
          <p:nvPr/>
        </p:nvSpPr>
        <p:spPr>
          <a:xfrm>
            <a:off x="924128" y="428017"/>
            <a:ext cx="10155677" cy="830997"/>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chemeClr val="accent4">
                    <a:lumMod val="50000"/>
                  </a:schemeClr>
                </a:solidFill>
              </a:rPr>
              <a:t>Total number of quizzes created by each user, but only include users who have created more than 3 quizzes.</a:t>
            </a:r>
            <a:endParaRPr lang="en-IN" sz="2400" dirty="0">
              <a:solidFill>
                <a:schemeClr val="accent4">
                  <a:lumMod val="50000"/>
                </a:schemeClr>
              </a:solidFill>
            </a:endParaRPr>
          </a:p>
        </p:txBody>
      </p:sp>
      <p:sp>
        <p:nvSpPr>
          <p:cNvPr id="7" name="TextBox 6">
            <a:extLst>
              <a:ext uri="{FF2B5EF4-FFF2-40B4-BE49-F238E27FC236}">
                <a16:creationId xmlns:a16="http://schemas.microsoft.com/office/drawing/2014/main" id="{8ED51D7A-2341-DE31-0F4B-055FEBF58C5A}"/>
              </a:ext>
            </a:extLst>
          </p:cNvPr>
          <p:cNvSpPr txBox="1"/>
          <p:nvPr/>
        </p:nvSpPr>
        <p:spPr>
          <a:xfrm>
            <a:off x="1391054" y="2839287"/>
            <a:ext cx="2962415" cy="461665"/>
          </a:xfrm>
          <a:prstGeom prst="rect">
            <a:avLst/>
          </a:prstGeom>
          <a:noFill/>
        </p:spPr>
        <p:txBody>
          <a:bodyPr wrap="square" rtlCol="0">
            <a:spAutoFit/>
          </a:bodyPr>
          <a:lstStyle/>
          <a:p>
            <a:r>
              <a:rPr lang="en-US" sz="2400" dirty="0">
                <a:solidFill>
                  <a:schemeClr val="accent4">
                    <a:lumMod val="50000"/>
                  </a:schemeClr>
                </a:solidFill>
              </a:rPr>
              <a:t>Output :</a:t>
            </a:r>
            <a:endParaRPr lang="en-IN" sz="2400" dirty="0">
              <a:solidFill>
                <a:schemeClr val="accent4">
                  <a:lumMod val="50000"/>
                </a:schemeClr>
              </a:solidFill>
            </a:endParaRPr>
          </a:p>
        </p:txBody>
      </p:sp>
      <p:pic>
        <p:nvPicPr>
          <p:cNvPr id="6" name="Picture 5">
            <a:extLst>
              <a:ext uri="{FF2B5EF4-FFF2-40B4-BE49-F238E27FC236}">
                <a16:creationId xmlns:a16="http://schemas.microsoft.com/office/drawing/2014/main" id="{6166312D-3737-05D4-B6B1-4567E3BE613E}"/>
              </a:ext>
            </a:extLst>
          </p:cNvPr>
          <p:cNvPicPr>
            <a:picLocks noChangeAspect="1"/>
          </p:cNvPicPr>
          <p:nvPr/>
        </p:nvPicPr>
        <p:blipFill>
          <a:blip r:embed="rId3"/>
          <a:stretch>
            <a:fillRect/>
          </a:stretch>
        </p:blipFill>
        <p:spPr>
          <a:xfrm>
            <a:off x="1391053" y="1477467"/>
            <a:ext cx="10090682" cy="1143366"/>
          </a:xfrm>
          <a:prstGeom prst="rect">
            <a:avLst/>
          </a:prstGeom>
        </p:spPr>
      </p:pic>
      <p:pic>
        <p:nvPicPr>
          <p:cNvPr id="9" name="Picture 8">
            <a:extLst>
              <a:ext uri="{FF2B5EF4-FFF2-40B4-BE49-F238E27FC236}">
                <a16:creationId xmlns:a16="http://schemas.microsoft.com/office/drawing/2014/main" id="{21754081-9451-1C61-89B5-8A78E7079040}"/>
              </a:ext>
            </a:extLst>
          </p:cNvPr>
          <p:cNvPicPr>
            <a:picLocks noChangeAspect="1"/>
          </p:cNvPicPr>
          <p:nvPr/>
        </p:nvPicPr>
        <p:blipFill>
          <a:blip r:embed="rId4"/>
          <a:stretch>
            <a:fillRect/>
          </a:stretch>
        </p:blipFill>
        <p:spPr>
          <a:xfrm>
            <a:off x="1391053" y="3519406"/>
            <a:ext cx="4157690" cy="1143366"/>
          </a:xfrm>
          <a:prstGeom prst="rect">
            <a:avLst/>
          </a:prstGeom>
        </p:spPr>
      </p:pic>
    </p:spTree>
    <p:extLst>
      <p:ext uri="{BB962C8B-B14F-4D97-AF65-F5344CB8AC3E}">
        <p14:creationId xmlns:p14="http://schemas.microsoft.com/office/powerpoint/2010/main" val="34839923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4D4F6-382A-18AB-F4E4-D0B26EF18DF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2C9CA62-6FBD-22E9-3EEC-45A0DADF80DD}"/>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56" b="15475"/>
          <a:stretch>
            <a:fillRect/>
          </a:stretch>
        </p:blipFill>
        <p:spPr>
          <a:xfrm>
            <a:off x="20" y="10"/>
            <a:ext cx="12191980" cy="6857990"/>
          </a:xfrm>
          <a:prstGeom prst="rect">
            <a:avLst/>
          </a:prstGeom>
        </p:spPr>
      </p:pic>
      <p:sp>
        <p:nvSpPr>
          <p:cNvPr id="4" name="TextBox 3">
            <a:extLst>
              <a:ext uri="{FF2B5EF4-FFF2-40B4-BE49-F238E27FC236}">
                <a16:creationId xmlns:a16="http://schemas.microsoft.com/office/drawing/2014/main" id="{3F259F94-5721-0580-2BB7-CD5E3400434D}"/>
              </a:ext>
            </a:extLst>
          </p:cNvPr>
          <p:cNvSpPr txBox="1"/>
          <p:nvPr/>
        </p:nvSpPr>
        <p:spPr>
          <a:xfrm>
            <a:off x="924128" y="428017"/>
            <a:ext cx="10155677" cy="830997"/>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solidFill>
                  <a:schemeClr val="accent4">
                    <a:lumMod val="50000"/>
                  </a:schemeClr>
                </a:solidFill>
              </a:rPr>
              <a:t>List of all user answers including Username, </a:t>
            </a:r>
            <a:r>
              <a:rPr lang="en-US" sz="2400" dirty="0" err="1">
                <a:solidFill>
                  <a:schemeClr val="accent4">
                    <a:lumMod val="50000"/>
                  </a:schemeClr>
                </a:solidFill>
              </a:rPr>
              <a:t>QuestionText</a:t>
            </a:r>
            <a:r>
              <a:rPr lang="en-US" sz="2400" dirty="0">
                <a:solidFill>
                  <a:schemeClr val="accent4">
                    <a:lumMod val="50000"/>
                  </a:schemeClr>
                </a:solidFill>
              </a:rPr>
              <a:t>, and </a:t>
            </a:r>
            <a:r>
              <a:rPr lang="en-US" sz="2400" dirty="0" err="1">
                <a:solidFill>
                  <a:schemeClr val="accent4">
                    <a:lumMod val="50000"/>
                  </a:schemeClr>
                </a:solidFill>
              </a:rPr>
              <a:t>SelectedOptionID</a:t>
            </a:r>
            <a:r>
              <a:rPr lang="en-US" sz="2400" dirty="0">
                <a:solidFill>
                  <a:schemeClr val="accent4">
                    <a:lumMod val="50000"/>
                  </a:schemeClr>
                </a:solidFill>
              </a:rPr>
              <a:t>.</a:t>
            </a:r>
          </a:p>
        </p:txBody>
      </p:sp>
      <p:sp>
        <p:nvSpPr>
          <p:cNvPr id="7" name="TextBox 6">
            <a:extLst>
              <a:ext uri="{FF2B5EF4-FFF2-40B4-BE49-F238E27FC236}">
                <a16:creationId xmlns:a16="http://schemas.microsoft.com/office/drawing/2014/main" id="{411D6B22-2936-3A26-FD62-14E25ED792AA}"/>
              </a:ext>
            </a:extLst>
          </p:cNvPr>
          <p:cNvSpPr txBox="1"/>
          <p:nvPr/>
        </p:nvSpPr>
        <p:spPr>
          <a:xfrm>
            <a:off x="1410254" y="3724790"/>
            <a:ext cx="2962415" cy="461665"/>
          </a:xfrm>
          <a:prstGeom prst="rect">
            <a:avLst/>
          </a:prstGeom>
          <a:noFill/>
        </p:spPr>
        <p:txBody>
          <a:bodyPr wrap="square" rtlCol="0">
            <a:spAutoFit/>
          </a:bodyPr>
          <a:lstStyle/>
          <a:p>
            <a:r>
              <a:rPr lang="en-US" sz="2400" dirty="0">
                <a:solidFill>
                  <a:schemeClr val="accent4">
                    <a:lumMod val="50000"/>
                  </a:schemeClr>
                </a:solidFill>
              </a:rPr>
              <a:t>Output :</a:t>
            </a:r>
            <a:endParaRPr lang="en-IN" sz="2400" dirty="0">
              <a:solidFill>
                <a:schemeClr val="accent4">
                  <a:lumMod val="50000"/>
                </a:schemeClr>
              </a:solidFill>
            </a:endParaRPr>
          </a:p>
        </p:txBody>
      </p:sp>
      <p:pic>
        <p:nvPicPr>
          <p:cNvPr id="12" name="Picture 11">
            <a:extLst>
              <a:ext uri="{FF2B5EF4-FFF2-40B4-BE49-F238E27FC236}">
                <a16:creationId xmlns:a16="http://schemas.microsoft.com/office/drawing/2014/main" id="{60BD9C64-D80B-15BB-9130-0A72A5966A61}"/>
              </a:ext>
            </a:extLst>
          </p:cNvPr>
          <p:cNvPicPr>
            <a:picLocks noChangeAspect="1"/>
          </p:cNvPicPr>
          <p:nvPr/>
        </p:nvPicPr>
        <p:blipFill>
          <a:blip r:embed="rId3"/>
          <a:stretch>
            <a:fillRect/>
          </a:stretch>
        </p:blipFill>
        <p:spPr>
          <a:xfrm>
            <a:off x="272374" y="1461609"/>
            <a:ext cx="11789923" cy="1874978"/>
          </a:xfrm>
          <a:prstGeom prst="rect">
            <a:avLst/>
          </a:prstGeom>
        </p:spPr>
      </p:pic>
      <p:pic>
        <p:nvPicPr>
          <p:cNvPr id="14" name="Picture 13">
            <a:extLst>
              <a:ext uri="{FF2B5EF4-FFF2-40B4-BE49-F238E27FC236}">
                <a16:creationId xmlns:a16="http://schemas.microsoft.com/office/drawing/2014/main" id="{29A9FE60-3EA8-706F-2336-2F3A9792960D}"/>
              </a:ext>
            </a:extLst>
          </p:cNvPr>
          <p:cNvPicPr>
            <a:picLocks noChangeAspect="1"/>
          </p:cNvPicPr>
          <p:nvPr/>
        </p:nvPicPr>
        <p:blipFill>
          <a:blip r:embed="rId4"/>
          <a:stretch>
            <a:fillRect/>
          </a:stretch>
        </p:blipFill>
        <p:spPr>
          <a:xfrm>
            <a:off x="3589506" y="3724790"/>
            <a:ext cx="6595354" cy="3133200"/>
          </a:xfrm>
          <a:prstGeom prst="rect">
            <a:avLst/>
          </a:prstGeom>
        </p:spPr>
      </p:pic>
    </p:spTree>
    <p:extLst>
      <p:ext uri="{BB962C8B-B14F-4D97-AF65-F5344CB8AC3E}">
        <p14:creationId xmlns:p14="http://schemas.microsoft.com/office/powerpoint/2010/main" val="29311907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5C5D4-A940-F330-19A3-D9A827CFC7B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889347B-8231-7495-A3A2-965C717D4E11}"/>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56" b="15475"/>
          <a:stretch>
            <a:fillRect/>
          </a:stretch>
        </p:blipFill>
        <p:spPr>
          <a:xfrm>
            <a:off x="20" y="10"/>
            <a:ext cx="12191980" cy="6857990"/>
          </a:xfrm>
          <a:prstGeom prst="rect">
            <a:avLst/>
          </a:prstGeom>
        </p:spPr>
      </p:pic>
      <p:sp>
        <p:nvSpPr>
          <p:cNvPr id="4" name="TextBox 3">
            <a:extLst>
              <a:ext uri="{FF2B5EF4-FFF2-40B4-BE49-F238E27FC236}">
                <a16:creationId xmlns:a16="http://schemas.microsoft.com/office/drawing/2014/main" id="{818B4F10-6756-78C2-65E0-74C52BBE47A2}"/>
              </a:ext>
            </a:extLst>
          </p:cNvPr>
          <p:cNvSpPr txBox="1"/>
          <p:nvPr/>
        </p:nvSpPr>
        <p:spPr>
          <a:xfrm>
            <a:off x="924128" y="428017"/>
            <a:ext cx="10155677" cy="830997"/>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chemeClr val="accent4">
                    <a:lumMod val="50000"/>
                  </a:schemeClr>
                </a:solidFill>
              </a:rPr>
              <a:t> List of all quizzes and any associated questions, include quizzes that might not have any questions.</a:t>
            </a:r>
          </a:p>
        </p:txBody>
      </p:sp>
      <p:sp>
        <p:nvSpPr>
          <p:cNvPr id="7" name="TextBox 6">
            <a:extLst>
              <a:ext uri="{FF2B5EF4-FFF2-40B4-BE49-F238E27FC236}">
                <a16:creationId xmlns:a16="http://schemas.microsoft.com/office/drawing/2014/main" id="{BCB89997-FCB0-0369-1AEF-7237A686FBB2}"/>
              </a:ext>
            </a:extLst>
          </p:cNvPr>
          <p:cNvSpPr txBox="1"/>
          <p:nvPr/>
        </p:nvSpPr>
        <p:spPr>
          <a:xfrm>
            <a:off x="1419981" y="2785991"/>
            <a:ext cx="2962415" cy="461665"/>
          </a:xfrm>
          <a:prstGeom prst="rect">
            <a:avLst/>
          </a:prstGeom>
          <a:noFill/>
        </p:spPr>
        <p:txBody>
          <a:bodyPr wrap="square" rtlCol="0">
            <a:spAutoFit/>
          </a:bodyPr>
          <a:lstStyle/>
          <a:p>
            <a:r>
              <a:rPr lang="en-US" sz="2400" dirty="0">
                <a:solidFill>
                  <a:schemeClr val="accent4">
                    <a:lumMod val="50000"/>
                  </a:schemeClr>
                </a:solidFill>
              </a:rPr>
              <a:t>Output :</a:t>
            </a:r>
            <a:endParaRPr lang="en-IN" sz="2400" dirty="0">
              <a:solidFill>
                <a:schemeClr val="accent4">
                  <a:lumMod val="50000"/>
                </a:schemeClr>
              </a:solidFill>
            </a:endParaRPr>
          </a:p>
        </p:txBody>
      </p:sp>
      <p:pic>
        <p:nvPicPr>
          <p:cNvPr id="5" name="Picture 4">
            <a:extLst>
              <a:ext uri="{FF2B5EF4-FFF2-40B4-BE49-F238E27FC236}">
                <a16:creationId xmlns:a16="http://schemas.microsoft.com/office/drawing/2014/main" id="{24A4AFBD-4B11-E2E1-2ADB-9BD4D783CDAF}"/>
              </a:ext>
            </a:extLst>
          </p:cNvPr>
          <p:cNvPicPr>
            <a:picLocks noChangeAspect="1"/>
          </p:cNvPicPr>
          <p:nvPr/>
        </p:nvPicPr>
        <p:blipFill>
          <a:blip r:embed="rId3"/>
          <a:stretch>
            <a:fillRect/>
          </a:stretch>
        </p:blipFill>
        <p:spPr>
          <a:xfrm>
            <a:off x="544749" y="1526987"/>
            <a:ext cx="11478638" cy="830997"/>
          </a:xfrm>
          <a:prstGeom prst="rect">
            <a:avLst/>
          </a:prstGeom>
        </p:spPr>
      </p:pic>
      <p:pic>
        <p:nvPicPr>
          <p:cNvPr id="8" name="Picture 7">
            <a:extLst>
              <a:ext uri="{FF2B5EF4-FFF2-40B4-BE49-F238E27FC236}">
                <a16:creationId xmlns:a16="http://schemas.microsoft.com/office/drawing/2014/main" id="{2B1586BE-9B79-8388-6F29-20EA080CB5DD}"/>
              </a:ext>
            </a:extLst>
          </p:cNvPr>
          <p:cNvPicPr>
            <a:picLocks noChangeAspect="1"/>
          </p:cNvPicPr>
          <p:nvPr/>
        </p:nvPicPr>
        <p:blipFill>
          <a:blip r:embed="rId4"/>
          <a:stretch>
            <a:fillRect/>
          </a:stretch>
        </p:blipFill>
        <p:spPr>
          <a:xfrm>
            <a:off x="3635197" y="2785991"/>
            <a:ext cx="6967952" cy="3994188"/>
          </a:xfrm>
          <a:prstGeom prst="rect">
            <a:avLst/>
          </a:prstGeom>
        </p:spPr>
      </p:pic>
    </p:spTree>
    <p:extLst>
      <p:ext uri="{BB962C8B-B14F-4D97-AF65-F5344CB8AC3E}">
        <p14:creationId xmlns:p14="http://schemas.microsoft.com/office/powerpoint/2010/main" val="23865766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151D2-3960-92E6-8DD5-A51A3A960FE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785A410-D012-2D27-5D6F-ACDD361208AF}"/>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56" b="15475"/>
          <a:stretch>
            <a:fillRect/>
          </a:stretch>
        </p:blipFill>
        <p:spPr>
          <a:xfrm>
            <a:off x="20" y="10"/>
            <a:ext cx="12191980" cy="6857990"/>
          </a:xfrm>
          <a:prstGeom prst="rect">
            <a:avLst/>
          </a:prstGeom>
        </p:spPr>
      </p:pic>
      <p:sp>
        <p:nvSpPr>
          <p:cNvPr id="4" name="TextBox 3">
            <a:extLst>
              <a:ext uri="{FF2B5EF4-FFF2-40B4-BE49-F238E27FC236}">
                <a16:creationId xmlns:a16="http://schemas.microsoft.com/office/drawing/2014/main" id="{A5DD9923-2119-E664-9492-865A5FB99596}"/>
              </a:ext>
            </a:extLst>
          </p:cNvPr>
          <p:cNvSpPr txBox="1"/>
          <p:nvPr/>
        </p:nvSpPr>
        <p:spPr>
          <a:xfrm>
            <a:off x="924128" y="428017"/>
            <a:ext cx="10155677" cy="461665"/>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chemeClr val="accent4">
                    <a:lumMod val="50000"/>
                  </a:schemeClr>
                </a:solidFill>
              </a:rPr>
              <a:t>  Total number of options for each question.</a:t>
            </a:r>
          </a:p>
        </p:txBody>
      </p:sp>
      <p:sp>
        <p:nvSpPr>
          <p:cNvPr id="7" name="TextBox 6">
            <a:extLst>
              <a:ext uri="{FF2B5EF4-FFF2-40B4-BE49-F238E27FC236}">
                <a16:creationId xmlns:a16="http://schemas.microsoft.com/office/drawing/2014/main" id="{BC1CB462-A076-C8F5-C64C-C92439EAF13B}"/>
              </a:ext>
            </a:extLst>
          </p:cNvPr>
          <p:cNvSpPr txBox="1"/>
          <p:nvPr/>
        </p:nvSpPr>
        <p:spPr>
          <a:xfrm>
            <a:off x="1419981" y="2785991"/>
            <a:ext cx="2962415" cy="461665"/>
          </a:xfrm>
          <a:prstGeom prst="rect">
            <a:avLst/>
          </a:prstGeom>
          <a:noFill/>
        </p:spPr>
        <p:txBody>
          <a:bodyPr wrap="square" rtlCol="0">
            <a:spAutoFit/>
          </a:bodyPr>
          <a:lstStyle/>
          <a:p>
            <a:r>
              <a:rPr lang="en-US" sz="2400" dirty="0">
                <a:solidFill>
                  <a:schemeClr val="accent4">
                    <a:lumMod val="50000"/>
                  </a:schemeClr>
                </a:solidFill>
              </a:rPr>
              <a:t>Output :</a:t>
            </a:r>
            <a:endParaRPr lang="en-IN" sz="2400" dirty="0">
              <a:solidFill>
                <a:schemeClr val="accent4">
                  <a:lumMod val="50000"/>
                </a:schemeClr>
              </a:solidFill>
            </a:endParaRPr>
          </a:p>
        </p:txBody>
      </p:sp>
      <p:pic>
        <p:nvPicPr>
          <p:cNvPr id="6" name="Picture 5">
            <a:extLst>
              <a:ext uri="{FF2B5EF4-FFF2-40B4-BE49-F238E27FC236}">
                <a16:creationId xmlns:a16="http://schemas.microsoft.com/office/drawing/2014/main" id="{0A6B58DD-5E06-0E2E-7A5A-D27B41255986}"/>
              </a:ext>
            </a:extLst>
          </p:cNvPr>
          <p:cNvPicPr>
            <a:picLocks noChangeAspect="1"/>
          </p:cNvPicPr>
          <p:nvPr/>
        </p:nvPicPr>
        <p:blipFill>
          <a:blip r:embed="rId3"/>
          <a:stretch>
            <a:fillRect/>
          </a:stretch>
        </p:blipFill>
        <p:spPr>
          <a:xfrm>
            <a:off x="1514299" y="3429000"/>
            <a:ext cx="3213344" cy="3331723"/>
          </a:xfrm>
          <a:prstGeom prst="rect">
            <a:avLst/>
          </a:prstGeom>
        </p:spPr>
      </p:pic>
      <p:pic>
        <p:nvPicPr>
          <p:cNvPr id="10" name="Picture 9">
            <a:extLst>
              <a:ext uri="{FF2B5EF4-FFF2-40B4-BE49-F238E27FC236}">
                <a16:creationId xmlns:a16="http://schemas.microsoft.com/office/drawing/2014/main" id="{03332743-64F7-01A7-2FB3-5B5B7022CE84}"/>
              </a:ext>
            </a:extLst>
          </p:cNvPr>
          <p:cNvPicPr>
            <a:picLocks noChangeAspect="1"/>
          </p:cNvPicPr>
          <p:nvPr/>
        </p:nvPicPr>
        <p:blipFill>
          <a:blip r:embed="rId4"/>
          <a:stretch>
            <a:fillRect/>
          </a:stretch>
        </p:blipFill>
        <p:spPr>
          <a:xfrm>
            <a:off x="1514299" y="1160082"/>
            <a:ext cx="9935155" cy="1359382"/>
          </a:xfrm>
          <a:prstGeom prst="rect">
            <a:avLst/>
          </a:prstGeom>
        </p:spPr>
      </p:pic>
    </p:spTree>
    <p:extLst>
      <p:ext uri="{BB962C8B-B14F-4D97-AF65-F5344CB8AC3E}">
        <p14:creationId xmlns:p14="http://schemas.microsoft.com/office/powerpoint/2010/main" val="35158484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1A5E0-D9D4-1ACB-9AA0-D4E74813700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A2E100D-EE0F-F11D-2831-975A2254B2AD}"/>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56" b="15475"/>
          <a:stretch>
            <a:fillRect/>
          </a:stretch>
        </p:blipFill>
        <p:spPr>
          <a:xfrm>
            <a:off x="20" y="10"/>
            <a:ext cx="12191980" cy="6857990"/>
          </a:xfrm>
          <a:prstGeom prst="rect">
            <a:avLst/>
          </a:prstGeom>
        </p:spPr>
      </p:pic>
      <p:sp>
        <p:nvSpPr>
          <p:cNvPr id="4" name="TextBox 3">
            <a:extLst>
              <a:ext uri="{FF2B5EF4-FFF2-40B4-BE49-F238E27FC236}">
                <a16:creationId xmlns:a16="http://schemas.microsoft.com/office/drawing/2014/main" id="{8D1062DC-EB54-95D7-D0E5-8B247F7AC014}"/>
              </a:ext>
            </a:extLst>
          </p:cNvPr>
          <p:cNvSpPr txBox="1"/>
          <p:nvPr/>
        </p:nvSpPr>
        <p:spPr>
          <a:xfrm>
            <a:off x="924128" y="428017"/>
            <a:ext cx="10155677" cy="461665"/>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chemeClr val="accent4">
                    <a:lumMod val="50000"/>
                  </a:schemeClr>
                </a:solidFill>
              </a:rPr>
              <a:t>Find all quizzes where the average score for all users is higher than 80.</a:t>
            </a:r>
          </a:p>
        </p:txBody>
      </p:sp>
      <p:sp>
        <p:nvSpPr>
          <p:cNvPr id="7" name="TextBox 6">
            <a:extLst>
              <a:ext uri="{FF2B5EF4-FFF2-40B4-BE49-F238E27FC236}">
                <a16:creationId xmlns:a16="http://schemas.microsoft.com/office/drawing/2014/main" id="{917AFDD4-55C6-22E8-9F67-EEC928596178}"/>
              </a:ext>
            </a:extLst>
          </p:cNvPr>
          <p:cNvSpPr txBox="1"/>
          <p:nvPr/>
        </p:nvSpPr>
        <p:spPr>
          <a:xfrm>
            <a:off x="924128" y="3198167"/>
            <a:ext cx="2962415" cy="461665"/>
          </a:xfrm>
          <a:prstGeom prst="rect">
            <a:avLst/>
          </a:prstGeom>
          <a:noFill/>
        </p:spPr>
        <p:txBody>
          <a:bodyPr wrap="square" rtlCol="0">
            <a:spAutoFit/>
          </a:bodyPr>
          <a:lstStyle/>
          <a:p>
            <a:r>
              <a:rPr lang="en-US" sz="2400" dirty="0">
                <a:solidFill>
                  <a:schemeClr val="accent4">
                    <a:lumMod val="50000"/>
                  </a:schemeClr>
                </a:solidFill>
              </a:rPr>
              <a:t>Output :</a:t>
            </a:r>
            <a:endParaRPr lang="en-IN" sz="2400" dirty="0">
              <a:solidFill>
                <a:schemeClr val="accent4">
                  <a:lumMod val="50000"/>
                </a:schemeClr>
              </a:solidFill>
            </a:endParaRPr>
          </a:p>
        </p:txBody>
      </p:sp>
      <p:pic>
        <p:nvPicPr>
          <p:cNvPr id="5" name="Picture 4">
            <a:extLst>
              <a:ext uri="{FF2B5EF4-FFF2-40B4-BE49-F238E27FC236}">
                <a16:creationId xmlns:a16="http://schemas.microsoft.com/office/drawing/2014/main" id="{F7805296-774C-E76F-2F64-549A7AC82B9A}"/>
              </a:ext>
            </a:extLst>
          </p:cNvPr>
          <p:cNvPicPr>
            <a:picLocks noChangeAspect="1"/>
          </p:cNvPicPr>
          <p:nvPr/>
        </p:nvPicPr>
        <p:blipFill>
          <a:blip r:embed="rId3"/>
          <a:stretch>
            <a:fillRect/>
          </a:stretch>
        </p:blipFill>
        <p:spPr>
          <a:xfrm>
            <a:off x="924128" y="1161972"/>
            <a:ext cx="11099259" cy="1688232"/>
          </a:xfrm>
          <a:prstGeom prst="rect">
            <a:avLst/>
          </a:prstGeom>
        </p:spPr>
      </p:pic>
      <p:pic>
        <p:nvPicPr>
          <p:cNvPr id="9" name="Picture 8">
            <a:extLst>
              <a:ext uri="{FF2B5EF4-FFF2-40B4-BE49-F238E27FC236}">
                <a16:creationId xmlns:a16="http://schemas.microsoft.com/office/drawing/2014/main" id="{19384AF2-87C0-DBE2-EEC6-8EA4BD645681}"/>
              </a:ext>
            </a:extLst>
          </p:cNvPr>
          <p:cNvPicPr>
            <a:picLocks noChangeAspect="1"/>
          </p:cNvPicPr>
          <p:nvPr/>
        </p:nvPicPr>
        <p:blipFill>
          <a:blip r:embed="rId4"/>
          <a:stretch>
            <a:fillRect/>
          </a:stretch>
        </p:blipFill>
        <p:spPr>
          <a:xfrm>
            <a:off x="924128" y="3803516"/>
            <a:ext cx="4231532" cy="2957208"/>
          </a:xfrm>
          <a:prstGeom prst="rect">
            <a:avLst/>
          </a:prstGeom>
        </p:spPr>
      </p:pic>
    </p:spTree>
    <p:extLst>
      <p:ext uri="{BB962C8B-B14F-4D97-AF65-F5344CB8AC3E}">
        <p14:creationId xmlns:p14="http://schemas.microsoft.com/office/powerpoint/2010/main" val="37630744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CA0D1-9DF7-6DBE-9E7D-9C6086F221A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4B3E0E2-D96F-9A72-4041-CCAAA854FFA6}"/>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56" b="15475"/>
          <a:stretch>
            <a:fillRect/>
          </a:stretch>
        </p:blipFill>
        <p:spPr>
          <a:xfrm>
            <a:off x="20" y="10"/>
            <a:ext cx="12191980" cy="6857990"/>
          </a:xfrm>
          <a:prstGeom prst="rect">
            <a:avLst/>
          </a:prstGeom>
        </p:spPr>
      </p:pic>
      <p:sp>
        <p:nvSpPr>
          <p:cNvPr id="4" name="TextBox 3">
            <a:extLst>
              <a:ext uri="{FF2B5EF4-FFF2-40B4-BE49-F238E27FC236}">
                <a16:creationId xmlns:a16="http://schemas.microsoft.com/office/drawing/2014/main" id="{2FCA3875-36DD-EC7B-8EAF-E6EF7C50A671}"/>
              </a:ext>
            </a:extLst>
          </p:cNvPr>
          <p:cNvSpPr txBox="1"/>
          <p:nvPr/>
        </p:nvSpPr>
        <p:spPr>
          <a:xfrm>
            <a:off x="924128" y="428017"/>
            <a:ext cx="10155677" cy="461665"/>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chemeClr val="accent4">
                    <a:lumMod val="50000"/>
                  </a:schemeClr>
                </a:solidFill>
              </a:rPr>
              <a:t>List Username, </a:t>
            </a:r>
            <a:r>
              <a:rPr lang="en-US" sz="2400" dirty="0" err="1">
                <a:solidFill>
                  <a:schemeClr val="accent4">
                    <a:lumMod val="50000"/>
                  </a:schemeClr>
                </a:solidFill>
              </a:rPr>
              <a:t>QuizName</a:t>
            </a:r>
            <a:r>
              <a:rPr lang="en-US" sz="2400" dirty="0">
                <a:solidFill>
                  <a:schemeClr val="accent4">
                    <a:lumMod val="50000"/>
                  </a:schemeClr>
                </a:solidFill>
              </a:rPr>
              <a:t>, and Score for all users who have completed a quiz. </a:t>
            </a:r>
          </a:p>
        </p:txBody>
      </p:sp>
      <p:sp>
        <p:nvSpPr>
          <p:cNvPr id="7" name="TextBox 6">
            <a:extLst>
              <a:ext uri="{FF2B5EF4-FFF2-40B4-BE49-F238E27FC236}">
                <a16:creationId xmlns:a16="http://schemas.microsoft.com/office/drawing/2014/main" id="{2CAE8EDF-B4FE-42D9-F878-E9419FA0FE98}"/>
              </a:ext>
            </a:extLst>
          </p:cNvPr>
          <p:cNvSpPr txBox="1"/>
          <p:nvPr/>
        </p:nvSpPr>
        <p:spPr>
          <a:xfrm>
            <a:off x="1350593" y="2833380"/>
            <a:ext cx="2962415" cy="461665"/>
          </a:xfrm>
          <a:prstGeom prst="rect">
            <a:avLst/>
          </a:prstGeom>
          <a:noFill/>
        </p:spPr>
        <p:txBody>
          <a:bodyPr wrap="square" rtlCol="0">
            <a:spAutoFit/>
          </a:bodyPr>
          <a:lstStyle/>
          <a:p>
            <a:r>
              <a:rPr lang="en-US" sz="2400" dirty="0">
                <a:solidFill>
                  <a:schemeClr val="accent4">
                    <a:lumMod val="50000"/>
                  </a:schemeClr>
                </a:solidFill>
              </a:rPr>
              <a:t>Output :</a:t>
            </a:r>
            <a:endParaRPr lang="en-IN" sz="2400" dirty="0">
              <a:solidFill>
                <a:schemeClr val="accent4">
                  <a:lumMod val="50000"/>
                </a:schemeClr>
              </a:solidFill>
            </a:endParaRPr>
          </a:p>
        </p:txBody>
      </p:sp>
      <p:pic>
        <p:nvPicPr>
          <p:cNvPr id="6" name="Picture 5">
            <a:extLst>
              <a:ext uri="{FF2B5EF4-FFF2-40B4-BE49-F238E27FC236}">
                <a16:creationId xmlns:a16="http://schemas.microsoft.com/office/drawing/2014/main" id="{367BF1CF-8AE9-45D7-AB03-876F99131884}"/>
              </a:ext>
            </a:extLst>
          </p:cNvPr>
          <p:cNvPicPr>
            <a:picLocks noChangeAspect="1"/>
          </p:cNvPicPr>
          <p:nvPr/>
        </p:nvPicPr>
        <p:blipFill>
          <a:blip r:embed="rId3"/>
          <a:stretch>
            <a:fillRect/>
          </a:stretch>
        </p:blipFill>
        <p:spPr>
          <a:xfrm>
            <a:off x="1350593" y="1005241"/>
            <a:ext cx="10653339" cy="1485039"/>
          </a:xfrm>
          <a:prstGeom prst="rect">
            <a:avLst/>
          </a:prstGeom>
        </p:spPr>
      </p:pic>
      <p:pic>
        <p:nvPicPr>
          <p:cNvPr id="10" name="Picture 9">
            <a:extLst>
              <a:ext uri="{FF2B5EF4-FFF2-40B4-BE49-F238E27FC236}">
                <a16:creationId xmlns:a16="http://schemas.microsoft.com/office/drawing/2014/main" id="{7D11F5C4-1A7D-EA1C-AA72-338FDF7EDF26}"/>
              </a:ext>
            </a:extLst>
          </p:cNvPr>
          <p:cNvPicPr>
            <a:picLocks noChangeAspect="1"/>
          </p:cNvPicPr>
          <p:nvPr/>
        </p:nvPicPr>
        <p:blipFill>
          <a:blip r:embed="rId4"/>
          <a:stretch>
            <a:fillRect/>
          </a:stretch>
        </p:blipFill>
        <p:spPr>
          <a:xfrm>
            <a:off x="1350593" y="3429000"/>
            <a:ext cx="5429586" cy="3312268"/>
          </a:xfrm>
          <a:prstGeom prst="rect">
            <a:avLst/>
          </a:prstGeom>
        </p:spPr>
      </p:pic>
    </p:spTree>
    <p:extLst>
      <p:ext uri="{BB962C8B-B14F-4D97-AF65-F5344CB8AC3E}">
        <p14:creationId xmlns:p14="http://schemas.microsoft.com/office/powerpoint/2010/main" val="26643339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2212801-AB91-99D7-E655-348B1FAEAC9C}"/>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t="256" b="15475"/>
          <a:stretch>
            <a:fillRect/>
          </a:stretch>
        </p:blipFill>
        <p:spPr>
          <a:xfrm>
            <a:off x="20" y="10"/>
            <a:ext cx="12191980" cy="6857990"/>
          </a:xfrm>
          <a:prstGeom prst="rect">
            <a:avLst/>
          </a:prstGeom>
        </p:spPr>
      </p:pic>
      <p:sp>
        <p:nvSpPr>
          <p:cNvPr id="4" name="TextBox 3">
            <a:extLst>
              <a:ext uri="{FF2B5EF4-FFF2-40B4-BE49-F238E27FC236}">
                <a16:creationId xmlns:a16="http://schemas.microsoft.com/office/drawing/2014/main" id="{91A2A0A8-345B-3B86-533A-71188ED0ADD4}"/>
              </a:ext>
            </a:extLst>
          </p:cNvPr>
          <p:cNvSpPr txBox="1"/>
          <p:nvPr/>
        </p:nvSpPr>
        <p:spPr>
          <a:xfrm>
            <a:off x="1507787" y="282102"/>
            <a:ext cx="6799634" cy="830997"/>
          </a:xfrm>
          <a:prstGeom prst="rect">
            <a:avLst/>
          </a:prstGeom>
          <a:noFill/>
        </p:spPr>
        <p:txBody>
          <a:bodyPr wrap="square" rtlCol="0">
            <a:spAutoFit/>
          </a:bodyPr>
          <a:lstStyle/>
          <a:p>
            <a:r>
              <a:rPr lang="en-US" sz="4800" b="1" dirty="0">
                <a:solidFill>
                  <a:schemeClr val="accent4">
                    <a:lumMod val="50000"/>
                  </a:schemeClr>
                </a:solidFill>
              </a:rPr>
              <a:t>Insights :</a:t>
            </a:r>
            <a:endParaRPr lang="en-IN" sz="4800" b="1" dirty="0">
              <a:solidFill>
                <a:schemeClr val="accent4">
                  <a:lumMod val="50000"/>
                </a:schemeClr>
              </a:solidFill>
            </a:endParaRPr>
          </a:p>
        </p:txBody>
      </p:sp>
      <p:sp>
        <p:nvSpPr>
          <p:cNvPr id="6" name="TextBox 5">
            <a:extLst>
              <a:ext uri="{FF2B5EF4-FFF2-40B4-BE49-F238E27FC236}">
                <a16:creationId xmlns:a16="http://schemas.microsoft.com/office/drawing/2014/main" id="{B845BA97-6787-31D1-553F-AE2963C61584}"/>
              </a:ext>
            </a:extLst>
          </p:cNvPr>
          <p:cNvSpPr txBox="1"/>
          <p:nvPr/>
        </p:nvSpPr>
        <p:spPr>
          <a:xfrm>
            <a:off x="1303506" y="1453558"/>
            <a:ext cx="8881354" cy="3416320"/>
          </a:xfrm>
          <a:prstGeom prst="rect">
            <a:avLst/>
          </a:prstGeom>
          <a:noFill/>
        </p:spPr>
        <p:txBody>
          <a:bodyPr wrap="square">
            <a:spAutoFit/>
          </a:bodyPr>
          <a:lstStyle/>
          <a:p>
            <a:pPr marL="342900" indent="-342900" algn="just">
              <a:buFont typeface="Arial" panose="020B0604020202020204" pitchFamily="34" charset="0"/>
              <a:buChar char="•"/>
            </a:pPr>
            <a:r>
              <a:rPr lang="en-US" sz="2400" dirty="0">
                <a:solidFill>
                  <a:schemeClr val="accent4">
                    <a:lumMod val="50000"/>
                  </a:schemeClr>
                </a:solidFill>
              </a:rPr>
              <a:t>SQL queries helped in retrieving and organizing quiz data efficiently, making it easier to generate useful information from multiple tables.</a:t>
            </a:r>
          </a:p>
          <a:p>
            <a:pPr algn="just">
              <a:buFont typeface="Arial" panose="020B0604020202020204" pitchFamily="34" charset="0"/>
              <a:buChar char="•"/>
            </a:pPr>
            <a:endParaRPr lang="en-US" sz="2400" dirty="0">
              <a:solidFill>
                <a:schemeClr val="accent4">
                  <a:lumMod val="50000"/>
                </a:schemeClr>
              </a:solidFill>
            </a:endParaRPr>
          </a:p>
          <a:p>
            <a:pPr marL="342900" indent="-342900" algn="just">
              <a:buFont typeface="Arial" panose="020B0604020202020204" pitchFamily="34" charset="0"/>
              <a:buChar char="•"/>
            </a:pPr>
            <a:r>
              <a:rPr lang="en-US" sz="2400" dirty="0">
                <a:solidFill>
                  <a:schemeClr val="accent4">
                    <a:lumMod val="50000"/>
                  </a:schemeClr>
                </a:solidFill>
              </a:rPr>
              <a:t>Using JOINs made it possible to combine data from different tables and get meaningful insights like user responses and results.</a:t>
            </a:r>
          </a:p>
          <a:p>
            <a:pPr algn="just">
              <a:buFont typeface="Arial" panose="020B0604020202020204" pitchFamily="34" charset="0"/>
              <a:buChar char="•"/>
            </a:pPr>
            <a:endParaRPr lang="en-US" sz="2400" dirty="0">
              <a:solidFill>
                <a:schemeClr val="accent4">
                  <a:lumMod val="50000"/>
                </a:schemeClr>
              </a:solidFill>
            </a:endParaRPr>
          </a:p>
          <a:p>
            <a:pPr marL="342900" indent="-342900" algn="just">
              <a:buFont typeface="Arial" panose="020B0604020202020204" pitchFamily="34" charset="0"/>
              <a:buChar char="•"/>
            </a:pPr>
            <a:r>
              <a:rPr lang="en-US" sz="2400" dirty="0">
                <a:solidFill>
                  <a:schemeClr val="accent4">
                    <a:lumMod val="50000"/>
                  </a:schemeClr>
                </a:solidFill>
              </a:rPr>
              <a:t>Proper table design with keys and relationships ensured accurate data retrieval and made the system easy to manage and scale.</a:t>
            </a:r>
          </a:p>
        </p:txBody>
      </p:sp>
    </p:spTree>
    <p:extLst>
      <p:ext uri="{BB962C8B-B14F-4D97-AF65-F5344CB8AC3E}">
        <p14:creationId xmlns:p14="http://schemas.microsoft.com/office/powerpoint/2010/main" val="19611702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1C6F146-545B-3000-CA71-7E52DE03DD89}"/>
              </a:ext>
            </a:extLst>
          </p:cNvPr>
          <p:cNvPicPr>
            <a:picLocks noChangeAspect="1"/>
          </p:cNvPicPr>
          <p:nvPr/>
        </p:nvPicPr>
        <p:blipFill>
          <a:blip r:embed="rId2">
            <a:alphaModFix amt="50000"/>
            <a:extLst>
              <a:ext uri="{28A0092B-C50C-407E-A947-70E740481C1C}">
                <a14:useLocalDpi xmlns:a14="http://schemas.microsoft.com/office/drawing/2010/main" val="0"/>
              </a:ext>
            </a:extLst>
          </a:blip>
          <a:srcRect t="256" b="15475"/>
          <a:stretch>
            <a:fillRect/>
          </a:stretch>
        </p:blipFill>
        <p:spPr>
          <a:xfrm>
            <a:off x="20" y="10"/>
            <a:ext cx="12191980" cy="6857990"/>
          </a:xfrm>
          <a:prstGeom prst="rect">
            <a:avLst/>
          </a:prstGeom>
        </p:spPr>
      </p:pic>
      <p:sp>
        <p:nvSpPr>
          <p:cNvPr id="6" name="TextBox 5">
            <a:extLst>
              <a:ext uri="{FF2B5EF4-FFF2-40B4-BE49-F238E27FC236}">
                <a16:creationId xmlns:a16="http://schemas.microsoft.com/office/drawing/2014/main" id="{5B421EDF-0139-40DE-95D1-AF873DF201FA}"/>
              </a:ext>
            </a:extLst>
          </p:cNvPr>
          <p:cNvSpPr txBox="1"/>
          <p:nvPr/>
        </p:nvSpPr>
        <p:spPr>
          <a:xfrm>
            <a:off x="2383277" y="2177241"/>
            <a:ext cx="7821038" cy="1569660"/>
          </a:xfrm>
          <a:prstGeom prst="rect">
            <a:avLst/>
          </a:prstGeom>
          <a:noFill/>
        </p:spPr>
        <p:txBody>
          <a:bodyPr wrap="square" rtlCol="0">
            <a:spAutoFit/>
          </a:bodyPr>
          <a:lstStyle/>
          <a:p>
            <a:r>
              <a:rPr lang="en-US" sz="9600" b="1" dirty="0">
                <a:solidFill>
                  <a:schemeClr val="accent4">
                    <a:lumMod val="50000"/>
                  </a:schemeClr>
                </a:solidFill>
                <a:latin typeface="Algerian" panose="04020705040A02060702" pitchFamily="82" charset="0"/>
              </a:rPr>
              <a:t>Thank You !</a:t>
            </a:r>
            <a:endParaRPr lang="en-IN" sz="9600" b="1" dirty="0">
              <a:solidFill>
                <a:schemeClr val="accent4">
                  <a:lumMod val="50000"/>
                </a:schemeClr>
              </a:solidFill>
              <a:latin typeface="Algerian" panose="04020705040A02060702" pitchFamily="82" charset="0"/>
            </a:endParaRPr>
          </a:p>
        </p:txBody>
      </p:sp>
    </p:spTree>
    <p:extLst>
      <p:ext uri="{BB962C8B-B14F-4D97-AF65-F5344CB8AC3E}">
        <p14:creationId xmlns:p14="http://schemas.microsoft.com/office/powerpoint/2010/main" val="410785945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B01B3C174004546AB8DAE8BFBC8FBF8" ma:contentTypeVersion="14" ma:contentTypeDescription="Create a new document." ma:contentTypeScope="" ma:versionID="63ab6091cfad4dee5b3b2807c8853642">
  <xsd:schema xmlns:xsd="http://www.w3.org/2001/XMLSchema" xmlns:xs="http://www.w3.org/2001/XMLSchema" xmlns:p="http://schemas.microsoft.com/office/2006/metadata/properties" xmlns:ns3="d00db87a-8daa-469e-9efb-60728628b4eb" xmlns:ns4="47b7d635-9602-4be6-b25b-8f25f4351701" targetNamespace="http://schemas.microsoft.com/office/2006/metadata/properties" ma:root="true" ma:fieldsID="a411b830fa1c0e808170a2c89faddec1" ns3:_="" ns4:_="">
    <xsd:import namespace="d00db87a-8daa-469e-9efb-60728628b4eb"/>
    <xsd:import namespace="47b7d635-9602-4be6-b25b-8f25f4351701"/>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GenerationTime" minOccurs="0"/>
                <xsd:element ref="ns3:MediaServiceEventHashCode" minOccurs="0"/>
                <xsd:element ref="ns3:MediaServiceOCR" minOccurs="0"/>
                <xsd:element ref="ns3:_activity" minOccurs="0"/>
                <xsd:element ref="ns4:SharedWithUsers" minOccurs="0"/>
                <xsd:element ref="ns4:SharedWithDetails" minOccurs="0"/>
                <xsd:element ref="ns4:SharingHintHash" minOccurs="0"/>
                <xsd:element ref="ns3:MediaServiceDateTaken" minOccurs="0"/>
                <xsd:element ref="ns3:MediaLengthInSeconds"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0db87a-8daa-469e-9efb-60728628b4e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_activity" ma:index="14" nillable="true" ma:displayName="_activity" ma:hidden="true" ma:internalName="_activity">
      <xsd:simpleType>
        <xsd:restriction base="dms:Note"/>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7b7d635-9602-4be6-b25b-8f25f4351701"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SharingHintHash" ma:index="17"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d00db87a-8daa-469e-9efb-60728628b4eb" xsi:nil="true"/>
  </documentManagement>
</p:properties>
</file>

<file path=customXml/itemProps1.xml><?xml version="1.0" encoding="utf-8"?>
<ds:datastoreItem xmlns:ds="http://schemas.openxmlformats.org/officeDocument/2006/customXml" ds:itemID="{EB351BC1-3E57-42B4-B7BA-AA69746D282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00db87a-8daa-469e-9efb-60728628b4eb"/>
    <ds:schemaRef ds:uri="47b7d635-9602-4be6-b25b-8f25f435170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E52E64E-56AB-48EA-B265-D0D9142C7C09}">
  <ds:schemaRefs>
    <ds:schemaRef ds:uri="http://schemas.microsoft.com/sharepoint/v3/contenttype/forms"/>
  </ds:schemaRefs>
</ds:datastoreItem>
</file>

<file path=customXml/itemProps3.xml><?xml version="1.0" encoding="utf-8"?>
<ds:datastoreItem xmlns:ds="http://schemas.openxmlformats.org/officeDocument/2006/customXml" ds:itemID="{89B25C18-34F9-4F80-BA88-5A2D93A56FE8}">
  <ds:schemaRefs>
    <ds:schemaRef ds:uri="http://schemas.openxmlformats.org/package/2006/metadata/core-properties"/>
    <ds:schemaRef ds:uri="47b7d635-9602-4be6-b25b-8f25f4351701"/>
    <ds:schemaRef ds:uri="http://purl.org/dc/terms/"/>
    <ds:schemaRef ds:uri="d00db87a-8daa-469e-9efb-60728628b4eb"/>
    <ds:schemaRef ds:uri="http://purl.org/dc/dcmitype/"/>
    <ds:schemaRef ds:uri="http://schemas.microsoft.com/office/2006/documentManagement/types"/>
    <ds:schemaRef ds:uri="http://purl.org/dc/elements/1.1/"/>
    <ds:schemaRef ds:uri="http://schemas.microsoft.com/office/infopath/2007/PartnerControls"/>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Integral</Template>
  <TotalTime>1885</TotalTime>
  <Words>807</Words>
  <Application>Microsoft Office PowerPoint</Application>
  <PresentationFormat>Widescreen</PresentationFormat>
  <Paragraphs>57</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Algerian</vt:lpstr>
      <vt:lpstr>Arial</vt:lpstr>
      <vt:lpstr>Tw Cen MT</vt:lpstr>
      <vt:lpstr>Tw Cen MT Condensed</vt:lpstr>
      <vt:lpstr>Wingdings 3</vt:lpstr>
      <vt:lpstr>Integral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More Prachi Balasaheb</dc:creator>
  <cp:lastModifiedBy>More Prachi Balasaheb</cp:lastModifiedBy>
  <cp:revision>5</cp:revision>
  <dcterms:created xsi:type="dcterms:W3CDTF">2026-04-29T15:14:39Z</dcterms:created>
  <dcterms:modified xsi:type="dcterms:W3CDTF">2026-05-04T15:11:57Z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0x0101006B01B3C174004546AB8DAE8BFBC8FBF8</vt:lpwstr>
  </property>
</Properties>
</file>